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  <p:sldMasterId id="2147483874" r:id="rId2"/>
  </p:sldMasterIdLst>
  <p:notesMasterIdLst>
    <p:notesMasterId r:id="rId30"/>
  </p:notesMasterIdLst>
  <p:handoutMasterIdLst>
    <p:handoutMasterId r:id="rId31"/>
  </p:handoutMasterIdLst>
  <p:sldIdLst>
    <p:sldId id="599" r:id="rId3"/>
    <p:sldId id="668" r:id="rId4"/>
    <p:sldId id="893" r:id="rId5"/>
    <p:sldId id="884" r:id="rId6"/>
    <p:sldId id="874" r:id="rId7"/>
    <p:sldId id="875" r:id="rId8"/>
    <p:sldId id="876" r:id="rId9"/>
    <p:sldId id="877" r:id="rId10"/>
    <p:sldId id="878" r:id="rId11"/>
    <p:sldId id="879" r:id="rId12"/>
    <p:sldId id="858" r:id="rId13"/>
    <p:sldId id="848" r:id="rId14"/>
    <p:sldId id="774" r:id="rId15"/>
    <p:sldId id="859" r:id="rId16"/>
    <p:sldId id="860" r:id="rId17"/>
    <p:sldId id="861" r:id="rId18"/>
    <p:sldId id="862" r:id="rId19"/>
    <p:sldId id="863" r:id="rId20"/>
    <p:sldId id="864" r:id="rId21"/>
    <p:sldId id="867" r:id="rId22"/>
    <p:sldId id="868" r:id="rId23"/>
    <p:sldId id="871" r:id="rId24"/>
    <p:sldId id="888" r:id="rId25"/>
    <p:sldId id="889" r:id="rId26"/>
    <p:sldId id="892" r:id="rId27"/>
    <p:sldId id="635" r:id="rId28"/>
    <p:sldId id="638" r:id="rId29"/>
  </p:sldIdLst>
  <p:sldSz cx="9144000" cy="6858000" type="screen4x3"/>
  <p:notesSz cx="7010400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okeUser" initials="E" lastIdx="8" clrIdx="0">
    <p:extLst/>
  </p:cmAuthor>
  <p:cmAuthor id="2" name="Windows User" initials="WU" lastIdx="1" clrIdx="1"/>
  <p:cmAuthor id="3" name="Charlie Cook" initials="CC" lastIdx="8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88" autoAdjust="0"/>
    <p:restoredTop sz="94494" autoAdjust="0"/>
  </p:normalViewPr>
  <p:slideViewPr>
    <p:cSldViewPr snapToGrid="0" snapToObjects="1">
      <p:cViewPr varScale="1">
        <p:scale>
          <a:sx n="116" d="100"/>
          <a:sy n="116" d="100"/>
        </p:scale>
        <p:origin x="139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8368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90" d="100"/>
        <a:sy n="190" d="100"/>
      </p:scale>
      <p:origin x="0" y="23964"/>
    </p:cViewPr>
  </p:sorterViewPr>
  <p:notesViewPr>
    <p:cSldViewPr snapToGrid="0" snapToObjects="1">
      <p:cViewPr>
        <p:scale>
          <a:sx n="60" d="100"/>
          <a:sy n="60" d="100"/>
        </p:scale>
        <p:origin x="3187" y="5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033FC3-EC1F-4E3A-BCFA-8DB5222FC2BB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F1D40C-74CB-467D-883A-63128ADD31E8}">
      <dgm:prSet phldrT="[Text]" custT="1"/>
      <dgm:spPr/>
      <dgm:t>
        <a:bodyPr/>
        <a:lstStyle/>
        <a:p>
          <a:r>
            <a:rPr lang="en-US" sz="800" b="1" dirty="0">
              <a:solidFill>
                <a:srgbClr val="C00000"/>
              </a:solidFill>
            </a:rPr>
            <a:t>2014-SSA </a:t>
          </a:r>
          <a:r>
            <a:rPr lang="en-US" sz="800" dirty="0"/>
            <a:t>The CMS Federal Hub that authenticates individuals for the Health Marketplace subsidy and Medicaid eligibility </a:t>
          </a:r>
          <a:r>
            <a:rPr lang="en-US" sz="800" b="1" dirty="0"/>
            <a:t>uses NIEM to establish exchange between the States, CMS, IRS, SSA, &amp; DHS </a:t>
          </a:r>
          <a:r>
            <a:rPr lang="en-US" sz="800" b="1" dirty="0">
              <a:solidFill>
                <a:srgbClr val="C00000"/>
              </a:solidFill>
            </a:rPr>
            <a:t> </a:t>
          </a:r>
          <a:endParaRPr lang="en-US" sz="800" b="1" dirty="0"/>
        </a:p>
      </dgm:t>
    </dgm:pt>
    <dgm:pt modelId="{A3322302-2428-4ED9-B3CD-0EF7EEC87C67}" type="parTrans" cxnId="{A321D554-D7E1-4974-A8E1-D13F0634D716}">
      <dgm:prSet/>
      <dgm:spPr/>
      <dgm:t>
        <a:bodyPr/>
        <a:lstStyle/>
        <a:p>
          <a:endParaRPr lang="en-US"/>
        </a:p>
      </dgm:t>
    </dgm:pt>
    <dgm:pt modelId="{28934848-D0B0-4093-9F4B-2EB3A6767D03}" type="sibTrans" cxnId="{A321D554-D7E1-4974-A8E1-D13F0634D716}">
      <dgm:prSet/>
      <dgm:spPr/>
      <dgm:t>
        <a:bodyPr/>
        <a:lstStyle/>
        <a:p>
          <a:endParaRPr lang="en-US"/>
        </a:p>
      </dgm:t>
    </dgm:pt>
    <dgm:pt modelId="{EF19CD8E-DBCA-4F49-8231-916EEA1F2A69}">
      <dgm:prSet phldrT="[Text]" custT="1"/>
      <dgm:spPr/>
      <dgm:t>
        <a:bodyPr/>
        <a:lstStyle/>
        <a:p>
          <a:r>
            <a:rPr lang="en-US" sz="800" b="1" dirty="0">
              <a:solidFill>
                <a:srgbClr val="C00000"/>
              </a:solidFill>
            </a:rPr>
            <a:t>2015-ONC Roadmap- </a:t>
          </a:r>
          <a:r>
            <a:rPr lang="en-US" sz="800" dirty="0">
              <a:solidFill>
                <a:schemeClr val="tx1"/>
              </a:solidFill>
            </a:rPr>
            <a:t>It is impossible for a single standard to support all the needs of a learning health system.</a:t>
          </a:r>
          <a:r>
            <a:rPr lang="en-US" sz="800" b="1" dirty="0">
              <a:solidFill>
                <a:schemeClr val="tx1"/>
              </a:solidFill>
            </a:rPr>
            <a:t> Initiatives such as NIEM should be explored as tools that may support cross-domain interoperability”</a:t>
          </a:r>
          <a:endParaRPr lang="en-US" sz="800" dirty="0"/>
        </a:p>
      </dgm:t>
    </dgm:pt>
    <dgm:pt modelId="{D4B6955E-29D0-40F0-9A9D-B73B9327CA97}" type="parTrans" cxnId="{106FF9E5-3957-4F33-A4DF-6D304CDFB1B8}">
      <dgm:prSet/>
      <dgm:spPr/>
      <dgm:t>
        <a:bodyPr/>
        <a:lstStyle/>
        <a:p>
          <a:endParaRPr lang="en-US"/>
        </a:p>
      </dgm:t>
    </dgm:pt>
    <dgm:pt modelId="{0766A3E3-DB72-4433-A6AE-BE8D653FABD9}" type="sibTrans" cxnId="{106FF9E5-3957-4F33-A4DF-6D304CDFB1B8}">
      <dgm:prSet/>
      <dgm:spPr/>
      <dgm:t>
        <a:bodyPr/>
        <a:lstStyle/>
        <a:p>
          <a:endParaRPr lang="en-US"/>
        </a:p>
      </dgm:t>
    </dgm:pt>
    <dgm:pt modelId="{3E4D64A2-9C37-4737-81E9-35A4DF135FB4}">
      <dgm:prSet phldrT="[Text]" custT="1"/>
      <dgm:spPr/>
      <dgm:t>
        <a:bodyPr/>
        <a:lstStyle/>
        <a:p>
          <a:r>
            <a:rPr lang="en-US" sz="800" b="1" dirty="0">
              <a:solidFill>
                <a:srgbClr val="C00000"/>
              </a:solidFill>
            </a:rPr>
            <a:t>2013- DoD CIO- </a:t>
          </a:r>
          <a:r>
            <a:rPr lang="en-US" sz="800" dirty="0"/>
            <a:t>In order to comply with White House guidance on the adoption of reference information exchanges, </a:t>
          </a:r>
          <a:r>
            <a:rPr lang="en-US" sz="800" b="1" dirty="0"/>
            <a:t>DoD will adopt NIEM as the best suited option for standards-based data exchanges</a:t>
          </a:r>
        </a:p>
      </dgm:t>
    </dgm:pt>
    <dgm:pt modelId="{A30EB952-A7E3-49F1-908A-FB94C248D358}" type="parTrans" cxnId="{419F65BC-2194-4AE6-A4D5-540BFA790B9A}">
      <dgm:prSet/>
      <dgm:spPr/>
      <dgm:t>
        <a:bodyPr/>
        <a:lstStyle/>
        <a:p>
          <a:endParaRPr lang="en-US"/>
        </a:p>
      </dgm:t>
    </dgm:pt>
    <dgm:pt modelId="{FBC1ADF3-7B02-4E39-90B0-E7F96F23187F}" type="sibTrans" cxnId="{419F65BC-2194-4AE6-A4D5-540BFA790B9A}">
      <dgm:prSet/>
      <dgm:spPr/>
      <dgm:t>
        <a:bodyPr/>
        <a:lstStyle/>
        <a:p>
          <a:endParaRPr lang="en-US"/>
        </a:p>
      </dgm:t>
    </dgm:pt>
    <dgm:pt modelId="{C7B0DE15-516C-4D61-97BB-DD8D3A74C25F}">
      <dgm:prSet phldrT="[Text]" custT="1"/>
      <dgm:spPr/>
      <dgm:t>
        <a:bodyPr/>
        <a:lstStyle/>
        <a:p>
          <a:r>
            <a:rPr lang="en-US" sz="800" b="1" dirty="0">
              <a:solidFill>
                <a:schemeClr val="accent2"/>
              </a:solidFill>
            </a:rPr>
            <a:t>Oct. 2010- HHS </a:t>
          </a:r>
          <a:r>
            <a:rPr lang="en-US" sz="800" b="0" dirty="0"/>
            <a:t>joins DOJ and DHS becoming the </a:t>
          </a:r>
          <a:r>
            <a:rPr lang="en-US" sz="800" b="1" dirty="0"/>
            <a:t>third primary federal sponsor of the NIEM program</a:t>
          </a:r>
        </a:p>
      </dgm:t>
    </dgm:pt>
    <dgm:pt modelId="{35102503-6E8A-4572-93EF-A39188B43A77}" type="parTrans" cxnId="{0AA02D9A-8515-4BF9-BB86-28D67BED1F82}">
      <dgm:prSet/>
      <dgm:spPr/>
      <dgm:t>
        <a:bodyPr/>
        <a:lstStyle/>
        <a:p>
          <a:endParaRPr lang="en-US"/>
        </a:p>
      </dgm:t>
    </dgm:pt>
    <dgm:pt modelId="{96B70143-D194-4BC4-B9C7-8D0F910E7C2D}" type="sibTrans" cxnId="{0AA02D9A-8515-4BF9-BB86-28D67BED1F82}">
      <dgm:prSet/>
      <dgm:spPr/>
      <dgm:t>
        <a:bodyPr/>
        <a:lstStyle/>
        <a:p>
          <a:endParaRPr lang="en-US"/>
        </a:p>
      </dgm:t>
    </dgm:pt>
    <dgm:pt modelId="{BE605EC9-1E2B-4B06-98FC-31F590F56F3F}">
      <dgm:prSet phldrT="[Text]" custT="1"/>
      <dgm:spPr/>
      <dgm:t>
        <a:bodyPr/>
        <a:lstStyle/>
        <a:p>
          <a:r>
            <a:rPr lang="en-US" sz="800" b="1" dirty="0">
              <a:solidFill>
                <a:schemeClr val="accent2"/>
              </a:solidFill>
            </a:rPr>
            <a:t>2005-</a:t>
          </a:r>
          <a:r>
            <a:rPr lang="en-US" sz="800" b="0" dirty="0"/>
            <a:t> In response to 9/11, DoJ and DHA Develop the NIEM to </a:t>
          </a:r>
          <a:r>
            <a:rPr lang="en-US" sz="800" b="1" dirty="0"/>
            <a:t>enable interoperability on disparate systems</a:t>
          </a:r>
          <a:endParaRPr lang="en-US" sz="800" b="0" dirty="0"/>
        </a:p>
      </dgm:t>
    </dgm:pt>
    <dgm:pt modelId="{F4A93CCB-1FCE-4052-8F1F-D9EC11FD0DD0}" type="parTrans" cxnId="{72EDBC6C-A705-4990-B7B4-51635510E819}">
      <dgm:prSet/>
      <dgm:spPr/>
      <dgm:t>
        <a:bodyPr/>
        <a:lstStyle/>
        <a:p>
          <a:endParaRPr lang="en-US"/>
        </a:p>
      </dgm:t>
    </dgm:pt>
    <dgm:pt modelId="{1ED691BB-595F-411C-A7CD-9C3ABC69B306}" type="sibTrans" cxnId="{72EDBC6C-A705-4990-B7B4-51635510E819}">
      <dgm:prSet/>
      <dgm:spPr/>
      <dgm:t>
        <a:bodyPr/>
        <a:lstStyle/>
        <a:p>
          <a:endParaRPr lang="en-US"/>
        </a:p>
      </dgm:t>
    </dgm:pt>
    <dgm:pt modelId="{82516A6E-B060-4FAA-AAA7-0D8404D01558}" type="pres">
      <dgm:prSet presAssocID="{51033FC3-EC1F-4E3A-BCFA-8DB5222FC2B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8B49E39-414C-4C76-85FE-C4CEB1A34EEB}" type="pres">
      <dgm:prSet presAssocID="{51033FC3-EC1F-4E3A-BCFA-8DB5222FC2BB}" presName="arrow" presStyleLbl="bgShp" presStyleIdx="0" presStyleCnt="1"/>
      <dgm:spPr/>
    </dgm:pt>
    <dgm:pt modelId="{7D0C789D-2590-4359-9B22-16CD50B9910A}" type="pres">
      <dgm:prSet presAssocID="{51033FC3-EC1F-4E3A-BCFA-8DB5222FC2BB}" presName="points" presStyleCnt="0"/>
      <dgm:spPr/>
    </dgm:pt>
    <dgm:pt modelId="{AEE01752-BA09-42C1-9B9B-B927D38A092C}" type="pres">
      <dgm:prSet presAssocID="{BE605EC9-1E2B-4B06-98FC-31F590F56F3F}" presName="compositeA" presStyleCnt="0"/>
      <dgm:spPr/>
    </dgm:pt>
    <dgm:pt modelId="{EFEE9754-F522-4A5C-BF0F-93A877077874}" type="pres">
      <dgm:prSet presAssocID="{BE605EC9-1E2B-4B06-98FC-31F590F56F3F}" presName="text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E06044-9DDE-49FB-858D-8E487EAAACB5}" type="pres">
      <dgm:prSet presAssocID="{BE605EC9-1E2B-4B06-98FC-31F590F56F3F}" presName="circleA" presStyleLbl="node1" presStyleIdx="0" presStyleCnt="5"/>
      <dgm:spPr/>
    </dgm:pt>
    <dgm:pt modelId="{4A7D05DE-11AA-44EF-A8AE-88A73A80578D}" type="pres">
      <dgm:prSet presAssocID="{BE605EC9-1E2B-4B06-98FC-31F590F56F3F}" presName="spaceA" presStyleCnt="0"/>
      <dgm:spPr/>
    </dgm:pt>
    <dgm:pt modelId="{3AF7A439-00BA-4CEE-A5DD-1EBFDE3E64F7}" type="pres">
      <dgm:prSet presAssocID="{1ED691BB-595F-411C-A7CD-9C3ABC69B306}" presName="space" presStyleCnt="0"/>
      <dgm:spPr/>
    </dgm:pt>
    <dgm:pt modelId="{05339F4A-E1B6-451F-B126-A230E2CC1090}" type="pres">
      <dgm:prSet presAssocID="{C7B0DE15-516C-4D61-97BB-DD8D3A74C25F}" presName="compositeB" presStyleCnt="0"/>
      <dgm:spPr/>
    </dgm:pt>
    <dgm:pt modelId="{03528C8E-B24E-4574-9D15-100354198DF5}" type="pres">
      <dgm:prSet presAssocID="{C7B0DE15-516C-4D61-97BB-DD8D3A74C25F}" presName="textB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6377C4-AA71-4EDF-A27B-108326BD83F8}" type="pres">
      <dgm:prSet presAssocID="{C7B0DE15-516C-4D61-97BB-DD8D3A74C25F}" presName="circleB" presStyleLbl="node1" presStyleIdx="1" presStyleCnt="5"/>
      <dgm:spPr/>
    </dgm:pt>
    <dgm:pt modelId="{B39E19A6-92BC-4811-BC2C-00F99DFDA2C2}" type="pres">
      <dgm:prSet presAssocID="{C7B0DE15-516C-4D61-97BB-DD8D3A74C25F}" presName="spaceB" presStyleCnt="0"/>
      <dgm:spPr/>
    </dgm:pt>
    <dgm:pt modelId="{F344BB61-1402-4933-AAF2-49DEF2AFB70D}" type="pres">
      <dgm:prSet presAssocID="{96B70143-D194-4BC4-B9C7-8D0F910E7C2D}" presName="space" presStyleCnt="0"/>
      <dgm:spPr/>
    </dgm:pt>
    <dgm:pt modelId="{3DF87750-3468-4FED-B80E-5D41AEB3E558}" type="pres">
      <dgm:prSet presAssocID="{3E4D64A2-9C37-4737-81E9-35A4DF135FB4}" presName="compositeA" presStyleCnt="0"/>
      <dgm:spPr/>
    </dgm:pt>
    <dgm:pt modelId="{1F222050-7E5E-489A-9F42-01DFCDC7985B}" type="pres">
      <dgm:prSet presAssocID="{3E4D64A2-9C37-4737-81E9-35A4DF135FB4}" presName="textA" presStyleLbl="revTx" presStyleIdx="2" presStyleCnt="5" custScaleX="1212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98B714-1C68-4B29-9456-D7E36DA4DB7C}" type="pres">
      <dgm:prSet presAssocID="{3E4D64A2-9C37-4737-81E9-35A4DF135FB4}" presName="circleA" presStyleLbl="node1" presStyleIdx="2" presStyleCnt="5"/>
      <dgm:spPr/>
    </dgm:pt>
    <dgm:pt modelId="{22002A40-C4EC-4024-A876-83CD3ECED5EC}" type="pres">
      <dgm:prSet presAssocID="{3E4D64A2-9C37-4737-81E9-35A4DF135FB4}" presName="spaceA" presStyleCnt="0"/>
      <dgm:spPr/>
    </dgm:pt>
    <dgm:pt modelId="{D1EBF3D8-C30C-4F87-A691-8A7B738A9A69}" type="pres">
      <dgm:prSet presAssocID="{FBC1ADF3-7B02-4E39-90B0-E7F96F23187F}" presName="space" presStyleCnt="0"/>
      <dgm:spPr/>
    </dgm:pt>
    <dgm:pt modelId="{0EB64433-74A0-4FE3-B1F8-063C1689A599}" type="pres">
      <dgm:prSet presAssocID="{28F1D40C-74CB-467D-883A-63128ADD31E8}" presName="compositeB" presStyleCnt="0"/>
      <dgm:spPr/>
    </dgm:pt>
    <dgm:pt modelId="{C6A2B853-8A59-4DC6-8BA1-A7B8FC676DED}" type="pres">
      <dgm:prSet presAssocID="{28F1D40C-74CB-467D-883A-63128ADD31E8}" presName="textB" presStyleLbl="revTx" presStyleIdx="3" presStyleCnt="5" custScaleX="1234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AACDB2-4DD8-4DDB-A3E6-F6A3A9001D63}" type="pres">
      <dgm:prSet presAssocID="{28F1D40C-74CB-467D-883A-63128ADD31E8}" presName="circleB" presStyleLbl="node1" presStyleIdx="3" presStyleCnt="5"/>
      <dgm:spPr/>
    </dgm:pt>
    <dgm:pt modelId="{15D13A96-D958-4F47-9CF6-CFF30D3D3D3F}" type="pres">
      <dgm:prSet presAssocID="{28F1D40C-74CB-467D-883A-63128ADD31E8}" presName="spaceB" presStyleCnt="0"/>
      <dgm:spPr/>
    </dgm:pt>
    <dgm:pt modelId="{AFC01F5C-DFF9-4350-AB6E-E897B2A7DD0E}" type="pres">
      <dgm:prSet presAssocID="{28934848-D0B0-4093-9F4B-2EB3A6767D03}" presName="space" presStyleCnt="0"/>
      <dgm:spPr/>
    </dgm:pt>
    <dgm:pt modelId="{C36C333B-F7E0-4B6E-B217-6E9EBE13A692}" type="pres">
      <dgm:prSet presAssocID="{EF19CD8E-DBCA-4F49-8231-916EEA1F2A69}" presName="compositeA" presStyleCnt="0"/>
      <dgm:spPr/>
    </dgm:pt>
    <dgm:pt modelId="{2B4C0914-B1C8-44AE-A771-F10432349A6E}" type="pres">
      <dgm:prSet presAssocID="{EF19CD8E-DBCA-4F49-8231-916EEA1F2A69}" presName="textA" presStyleLbl="revTx" presStyleIdx="4" presStyleCnt="5" custScaleX="1217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C77B5-5D8B-41D8-926E-AB72E9A520AC}" type="pres">
      <dgm:prSet presAssocID="{EF19CD8E-DBCA-4F49-8231-916EEA1F2A69}" presName="circleA" presStyleLbl="node1" presStyleIdx="4" presStyleCnt="5"/>
      <dgm:spPr/>
    </dgm:pt>
    <dgm:pt modelId="{6C4DE118-4591-4E89-82BC-BE7DBA18FF1F}" type="pres">
      <dgm:prSet presAssocID="{EF19CD8E-DBCA-4F49-8231-916EEA1F2A69}" presName="spaceA" presStyleCnt="0"/>
      <dgm:spPr/>
    </dgm:pt>
  </dgm:ptLst>
  <dgm:cxnLst>
    <dgm:cxn modelId="{106FF9E5-3957-4F33-A4DF-6D304CDFB1B8}" srcId="{51033FC3-EC1F-4E3A-BCFA-8DB5222FC2BB}" destId="{EF19CD8E-DBCA-4F49-8231-916EEA1F2A69}" srcOrd="4" destOrd="0" parTransId="{D4B6955E-29D0-40F0-9A9D-B73B9327CA97}" sibTransId="{0766A3E3-DB72-4433-A6AE-BE8D653FABD9}"/>
    <dgm:cxn modelId="{01A0A760-4965-4471-8ED6-970C7BBD3730}" type="presOf" srcId="{EF19CD8E-DBCA-4F49-8231-916EEA1F2A69}" destId="{2B4C0914-B1C8-44AE-A771-F10432349A6E}" srcOrd="0" destOrd="0" presId="urn:microsoft.com/office/officeart/2005/8/layout/hProcess11"/>
    <dgm:cxn modelId="{272D55B4-C7D3-44D0-ABDE-E8B524EC8C5F}" type="presOf" srcId="{51033FC3-EC1F-4E3A-BCFA-8DB5222FC2BB}" destId="{82516A6E-B060-4FAA-AAA7-0D8404D01558}" srcOrd="0" destOrd="0" presId="urn:microsoft.com/office/officeart/2005/8/layout/hProcess11"/>
    <dgm:cxn modelId="{142E60B6-01A6-4654-8BC8-B1AD7F5D932A}" type="presOf" srcId="{BE605EC9-1E2B-4B06-98FC-31F590F56F3F}" destId="{EFEE9754-F522-4A5C-BF0F-93A877077874}" srcOrd="0" destOrd="0" presId="urn:microsoft.com/office/officeart/2005/8/layout/hProcess11"/>
    <dgm:cxn modelId="{419F65BC-2194-4AE6-A4D5-540BFA790B9A}" srcId="{51033FC3-EC1F-4E3A-BCFA-8DB5222FC2BB}" destId="{3E4D64A2-9C37-4737-81E9-35A4DF135FB4}" srcOrd="2" destOrd="0" parTransId="{A30EB952-A7E3-49F1-908A-FB94C248D358}" sibTransId="{FBC1ADF3-7B02-4E39-90B0-E7F96F23187F}"/>
    <dgm:cxn modelId="{7EE28F3F-DCC6-4580-86C1-28AD6C559527}" type="presOf" srcId="{3E4D64A2-9C37-4737-81E9-35A4DF135FB4}" destId="{1F222050-7E5E-489A-9F42-01DFCDC7985B}" srcOrd="0" destOrd="0" presId="urn:microsoft.com/office/officeart/2005/8/layout/hProcess11"/>
    <dgm:cxn modelId="{E3190519-0321-4A63-9409-A393BF1A9891}" type="presOf" srcId="{28F1D40C-74CB-467D-883A-63128ADD31E8}" destId="{C6A2B853-8A59-4DC6-8BA1-A7B8FC676DED}" srcOrd="0" destOrd="0" presId="urn:microsoft.com/office/officeart/2005/8/layout/hProcess11"/>
    <dgm:cxn modelId="{0AA02D9A-8515-4BF9-BB86-28D67BED1F82}" srcId="{51033FC3-EC1F-4E3A-BCFA-8DB5222FC2BB}" destId="{C7B0DE15-516C-4D61-97BB-DD8D3A74C25F}" srcOrd="1" destOrd="0" parTransId="{35102503-6E8A-4572-93EF-A39188B43A77}" sibTransId="{96B70143-D194-4BC4-B9C7-8D0F910E7C2D}"/>
    <dgm:cxn modelId="{72EDBC6C-A705-4990-B7B4-51635510E819}" srcId="{51033FC3-EC1F-4E3A-BCFA-8DB5222FC2BB}" destId="{BE605EC9-1E2B-4B06-98FC-31F590F56F3F}" srcOrd="0" destOrd="0" parTransId="{F4A93CCB-1FCE-4052-8F1F-D9EC11FD0DD0}" sibTransId="{1ED691BB-595F-411C-A7CD-9C3ABC69B306}"/>
    <dgm:cxn modelId="{A321D554-D7E1-4974-A8E1-D13F0634D716}" srcId="{51033FC3-EC1F-4E3A-BCFA-8DB5222FC2BB}" destId="{28F1D40C-74CB-467D-883A-63128ADD31E8}" srcOrd="3" destOrd="0" parTransId="{A3322302-2428-4ED9-B3CD-0EF7EEC87C67}" sibTransId="{28934848-D0B0-4093-9F4B-2EB3A6767D03}"/>
    <dgm:cxn modelId="{F1204F64-482A-4869-B223-1F9D58758E9A}" type="presOf" srcId="{C7B0DE15-516C-4D61-97BB-DD8D3A74C25F}" destId="{03528C8E-B24E-4574-9D15-100354198DF5}" srcOrd="0" destOrd="0" presId="urn:microsoft.com/office/officeart/2005/8/layout/hProcess11"/>
    <dgm:cxn modelId="{C1250EC1-C7C6-4BEC-B6D5-C200302C3E20}" type="presParOf" srcId="{82516A6E-B060-4FAA-AAA7-0D8404D01558}" destId="{48B49E39-414C-4C76-85FE-C4CEB1A34EEB}" srcOrd="0" destOrd="0" presId="urn:microsoft.com/office/officeart/2005/8/layout/hProcess11"/>
    <dgm:cxn modelId="{3C61A4D8-7C3F-4167-98B3-C18F03C29B79}" type="presParOf" srcId="{82516A6E-B060-4FAA-AAA7-0D8404D01558}" destId="{7D0C789D-2590-4359-9B22-16CD50B9910A}" srcOrd="1" destOrd="0" presId="urn:microsoft.com/office/officeart/2005/8/layout/hProcess11"/>
    <dgm:cxn modelId="{912A7F7C-961C-423E-933D-6756F04633E7}" type="presParOf" srcId="{7D0C789D-2590-4359-9B22-16CD50B9910A}" destId="{AEE01752-BA09-42C1-9B9B-B927D38A092C}" srcOrd="0" destOrd="0" presId="urn:microsoft.com/office/officeart/2005/8/layout/hProcess11"/>
    <dgm:cxn modelId="{11C1CB76-D96F-4B0F-A2E7-F7E75A3F3B3A}" type="presParOf" srcId="{AEE01752-BA09-42C1-9B9B-B927D38A092C}" destId="{EFEE9754-F522-4A5C-BF0F-93A877077874}" srcOrd="0" destOrd="0" presId="urn:microsoft.com/office/officeart/2005/8/layout/hProcess11"/>
    <dgm:cxn modelId="{0320D1B1-AB22-4B91-8282-C495852DCF3C}" type="presParOf" srcId="{AEE01752-BA09-42C1-9B9B-B927D38A092C}" destId="{AAE06044-9DDE-49FB-858D-8E487EAAACB5}" srcOrd="1" destOrd="0" presId="urn:microsoft.com/office/officeart/2005/8/layout/hProcess11"/>
    <dgm:cxn modelId="{AF077CF4-3E10-46F5-953E-9FAC69E2EDB4}" type="presParOf" srcId="{AEE01752-BA09-42C1-9B9B-B927D38A092C}" destId="{4A7D05DE-11AA-44EF-A8AE-88A73A80578D}" srcOrd="2" destOrd="0" presId="urn:microsoft.com/office/officeart/2005/8/layout/hProcess11"/>
    <dgm:cxn modelId="{C22C0DD0-6EEB-4400-A416-B7E616F47FB7}" type="presParOf" srcId="{7D0C789D-2590-4359-9B22-16CD50B9910A}" destId="{3AF7A439-00BA-4CEE-A5DD-1EBFDE3E64F7}" srcOrd="1" destOrd="0" presId="urn:microsoft.com/office/officeart/2005/8/layout/hProcess11"/>
    <dgm:cxn modelId="{915404AF-DA85-491C-B44E-EC7A97571DBD}" type="presParOf" srcId="{7D0C789D-2590-4359-9B22-16CD50B9910A}" destId="{05339F4A-E1B6-451F-B126-A230E2CC1090}" srcOrd="2" destOrd="0" presId="urn:microsoft.com/office/officeart/2005/8/layout/hProcess11"/>
    <dgm:cxn modelId="{292C189A-9D55-4237-9C7F-F2539BDB7743}" type="presParOf" srcId="{05339F4A-E1B6-451F-B126-A230E2CC1090}" destId="{03528C8E-B24E-4574-9D15-100354198DF5}" srcOrd="0" destOrd="0" presId="urn:microsoft.com/office/officeart/2005/8/layout/hProcess11"/>
    <dgm:cxn modelId="{B043ABF0-5547-466F-99D2-B7743A5227DC}" type="presParOf" srcId="{05339F4A-E1B6-451F-B126-A230E2CC1090}" destId="{B46377C4-AA71-4EDF-A27B-108326BD83F8}" srcOrd="1" destOrd="0" presId="urn:microsoft.com/office/officeart/2005/8/layout/hProcess11"/>
    <dgm:cxn modelId="{FA947033-7CCB-413E-A5C4-D174F224F90F}" type="presParOf" srcId="{05339F4A-E1B6-451F-B126-A230E2CC1090}" destId="{B39E19A6-92BC-4811-BC2C-00F99DFDA2C2}" srcOrd="2" destOrd="0" presId="urn:microsoft.com/office/officeart/2005/8/layout/hProcess11"/>
    <dgm:cxn modelId="{5000AD4C-2F9A-4B44-8376-5FC352A08465}" type="presParOf" srcId="{7D0C789D-2590-4359-9B22-16CD50B9910A}" destId="{F344BB61-1402-4933-AAF2-49DEF2AFB70D}" srcOrd="3" destOrd="0" presId="urn:microsoft.com/office/officeart/2005/8/layout/hProcess11"/>
    <dgm:cxn modelId="{9B258A5E-ACE7-41FE-9C0E-B3A49A77A37A}" type="presParOf" srcId="{7D0C789D-2590-4359-9B22-16CD50B9910A}" destId="{3DF87750-3468-4FED-B80E-5D41AEB3E558}" srcOrd="4" destOrd="0" presId="urn:microsoft.com/office/officeart/2005/8/layout/hProcess11"/>
    <dgm:cxn modelId="{375D604B-8D42-409A-BD84-CB2692A8E275}" type="presParOf" srcId="{3DF87750-3468-4FED-B80E-5D41AEB3E558}" destId="{1F222050-7E5E-489A-9F42-01DFCDC7985B}" srcOrd="0" destOrd="0" presId="urn:microsoft.com/office/officeart/2005/8/layout/hProcess11"/>
    <dgm:cxn modelId="{E1526DDA-69B4-41E6-A690-A8B12C3F078E}" type="presParOf" srcId="{3DF87750-3468-4FED-B80E-5D41AEB3E558}" destId="{5998B714-1C68-4B29-9456-D7E36DA4DB7C}" srcOrd="1" destOrd="0" presId="urn:microsoft.com/office/officeart/2005/8/layout/hProcess11"/>
    <dgm:cxn modelId="{1C031219-78E0-41C1-ADBB-8EAB1AE3D043}" type="presParOf" srcId="{3DF87750-3468-4FED-B80E-5D41AEB3E558}" destId="{22002A40-C4EC-4024-A876-83CD3ECED5EC}" srcOrd="2" destOrd="0" presId="urn:microsoft.com/office/officeart/2005/8/layout/hProcess11"/>
    <dgm:cxn modelId="{D6F3B0AA-CC5C-4BA8-B467-620F4A831701}" type="presParOf" srcId="{7D0C789D-2590-4359-9B22-16CD50B9910A}" destId="{D1EBF3D8-C30C-4F87-A691-8A7B738A9A69}" srcOrd="5" destOrd="0" presId="urn:microsoft.com/office/officeart/2005/8/layout/hProcess11"/>
    <dgm:cxn modelId="{DA1B555D-0958-4C5E-BEF1-BA7A9A50AC48}" type="presParOf" srcId="{7D0C789D-2590-4359-9B22-16CD50B9910A}" destId="{0EB64433-74A0-4FE3-B1F8-063C1689A599}" srcOrd="6" destOrd="0" presId="urn:microsoft.com/office/officeart/2005/8/layout/hProcess11"/>
    <dgm:cxn modelId="{D6D7728E-5C54-45F1-93DE-25ABA5BAA9E7}" type="presParOf" srcId="{0EB64433-74A0-4FE3-B1F8-063C1689A599}" destId="{C6A2B853-8A59-4DC6-8BA1-A7B8FC676DED}" srcOrd="0" destOrd="0" presId="urn:microsoft.com/office/officeart/2005/8/layout/hProcess11"/>
    <dgm:cxn modelId="{A96586FC-B539-46F2-A87F-C40F0B64C182}" type="presParOf" srcId="{0EB64433-74A0-4FE3-B1F8-063C1689A599}" destId="{AFAACDB2-4DD8-4DDB-A3E6-F6A3A9001D63}" srcOrd="1" destOrd="0" presId="urn:microsoft.com/office/officeart/2005/8/layout/hProcess11"/>
    <dgm:cxn modelId="{931BCB6D-7F85-4E55-BB60-BDFCB56FD936}" type="presParOf" srcId="{0EB64433-74A0-4FE3-B1F8-063C1689A599}" destId="{15D13A96-D958-4F47-9CF6-CFF30D3D3D3F}" srcOrd="2" destOrd="0" presId="urn:microsoft.com/office/officeart/2005/8/layout/hProcess11"/>
    <dgm:cxn modelId="{0C7B43C6-8306-47E6-B7CE-6A01EB022220}" type="presParOf" srcId="{7D0C789D-2590-4359-9B22-16CD50B9910A}" destId="{AFC01F5C-DFF9-4350-AB6E-E897B2A7DD0E}" srcOrd="7" destOrd="0" presId="urn:microsoft.com/office/officeart/2005/8/layout/hProcess11"/>
    <dgm:cxn modelId="{CEC2A2D2-2A85-41BA-A81B-B7BD7CBF19C1}" type="presParOf" srcId="{7D0C789D-2590-4359-9B22-16CD50B9910A}" destId="{C36C333B-F7E0-4B6E-B217-6E9EBE13A692}" srcOrd="8" destOrd="0" presId="urn:microsoft.com/office/officeart/2005/8/layout/hProcess11"/>
    <dgm:cxn modelId="{B7A1A1CA-9993-4D7F-9743-8CD9A8382962}" type="presParOf" srcId="{C36C333B-F7E0-4B6E-B217-6E9EBE13A692}" destId="{2B4C0914-B1C8-44AE-A771-F10432349A6E}" srcOrd="0" destOrd="0" presId="urn:microsoft.com/office/officeart/2005/8/layout/hProcess11"/>
    <dgm:cxn modelId="{48591E98-4024-4AAC-B67C-FBFB613E3DB4}" type="presParOf" srcId="{C36C333B-F7E0-4B6E-B217-6E9EBE13A692}" destId="{A44C77B5-5D8B-41D8-926E-AB72E9A520AC}" srcOrd="1" destOrd="0" presId="urn:microsoft.com/office/officeart/2005/8/layout/hProcess11"/>
    <dgm:cxn modelId="{0DF4F013-B14D-4445-BEED-097ED58FD944}" type="presParOf" srcId="{C36C333B-F7E0-4B6E-B217-6E9EBE13A692}" destId="{6C4DE118-4591-4E89-82BC-BE7DBA18FF1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FE17A-96AF-4E44-8520-FB00FBC150E6}" type="datetimeFigureOut">
              <a:rPr lang="en-US" smtClean="0"/>
              <a:t>8/8/2017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A86D34-A319-3047-9BEF-015F24998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40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F5CAB-05EA-974F-9DDE-057ABF24903B}" type="datetimeFigureOut">
              <a:rPr lang="en-US" smtClean="0"/>
              <a:t>8/8/2017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38327-1EFA-8740-B14D-411C9960B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154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7163" y="1154113"/>
            <a:ext cx="4156075" cy="31162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5F014-934F-4308-8676-5488482B26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28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5F014-934F-4308-8676-5488482B26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68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7163" y="1154113"/>
            <a:ext cx="4156075" cy="31162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5F014-934F-4308-8676-5488482B26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70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7163" y="1154113"/>
            <a:ext cx="4156075" cy="31162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22E215-D3C6-D84F-8ECF-5127C851821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6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agencies to confirm</a:t>
            </a:r>
            <a:r>
              <a:rPr lang="en-US" baseline="0" dirty="0"/>
              <a:t>/</a:t>
            </a:r>
            <a:r>
              <a:rPr lang="en-US" dirty="0"/>
              <a:t>ID SMEs and send to Caitlin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438327-1EFA-8740-B14D-411C9960B5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73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7163" y="1154113"/>
            <a:ext cx="4156075" cy="31162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how we came to this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5F014-934F-4308-8676-5488482B26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27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6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2" name="Shape 6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Ok to have this in bullets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expand VSAC’s capacity to accommodate FHIR® operations and interactions on code systems and the associated value sets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better position federal agencies who use the standards to interoperate with a greater degree of precision and consistency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support conformance testing and enumeration of value set content for a multitude of federal programs and value sets defined by the FHIM</a:t>
            </a:r>
          </a:p>
        </p:txBody>
      </p:sp>
    </p:spTree>
    <p:extLst>
      <p:ext uri="{BB962C8B-B14F-4D97-AF65-F5344CB8AC3E}">
        <p14:creationId xmlns:p14="http://schemas.microsoft.com/office/powerpoint/2010/main" val="3114163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6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8" name="Shape 6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Ok to have this in bullets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expand VSAC’s capacity to accommodate FHIR® operations and interactions on code systems and the associated value sets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better position federal agencies who use the standards to interoperate with a greater degree of precision and consistency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support conformance testing and enumeration of value set content for a multitude of federal programs and value sets defined by the FHIM</a:t>
            </a:r>
          </a:p>
        </p:txBody>
      </p:sp>
    </p:spTree>
    <p:extLst>
      <p:ext uri="{BB962C8B-B14F-4D97-AF65-F5344CB8AC3E}">
        <p14:creationId xmlns:p14="http://schemas.microsoft.com/office/powerpoint/2010/main" val="2763470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66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4" name="Shape 6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Ok to have this in bullets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expand VSAC’s capacity to accommodate FHIR® operations and interactions on code systems and the associated value sets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better position federal agencies who use the standards to interoperate with a greater degree of precision and consistency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support conformance testing and enumeration of value set content for a multitude of federal programs and value sets defined by the FHIM</a:t>
            </a:r>
          </a:p>
        </p:txBody>
      </p:sp>
    </p:spTree>
    <p:extLst>
      <p:ext uri="{BB962C8B-B14F-4D97-AF65-F5344CB8AC3E}">
        <p14:creationId xmlns:p14="http://schemas.microsoft.com/office/powerpoint/2010/main" val="1271030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6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0" name="Shape 6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Ok to have this in bullets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expand VSAC’s capacity to accommodate FHIR® operations and interactions on code systems and the associated value sets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better position federal agencies who use the standards to interoperate with a greater degree of precision and consistency</a:t>
            </a:r>
          </a:p>
          <a:p>
            <a:pPr marL="800100" lvl="1" indent="-342900">
              <a:spcBef>
                <a:spcPts val="600"/>
              </a:spcBef>
              <a:buSzPct val="100000"/>
              <a:buFont typeface="Arial"/>
              <a:buChar char="•"/>
            </a:pPr>
            <a:r>
              <a:t>support conformance testing and enumeration of value set content for a multitude of federal programs and value sets defined by the FHIM</a:t>
            </a:r>
          </a:p>
        </p:txBody>
      </p:sp>
    </p:spTree>
    <p:extLst>
      <p:ext uri="{BB962C8B-B14F-4D97-AF65-F5344CB8AC3E}">
        <p14:creationId xmlns:p14="http://schemas.microsoft.com/office/powerpoint/2010/main" val="3877360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9" name="Shape 7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HHS/CIO</a:t>
            </a:r>
          </a:p>
          <a:p>
            <a:r>
              <a:t>NLM</a:t>
            </a:r>
          </a:p>
          <a:p>
            <a:r>
              <a:t>IPO, DoD DHA and/or VA</a:t>
            </a:r>
          </a:p>
          <a:p>
            <a:r>
              <a:t>ONC</a:t>
            </a:r>
          </a:p>
          <a:p>
            <a:r>
              <a:t>NIST standards &amp; testing</a:t>
            </a:r>
          </a:p>
          <a:p>
            <a:r>
              <a:t>Non-Government: </a:t>
            </a:r>
          </a:p>
          <a:p>
            <a:r>
              <a:t>OpenGroup</a:t>
            </a:r>
          </a:p>
          <a:p>
            <a:r>
              <a:t>HL7 (US RealmFHIR US Core, C-CDA)</a:t>
            </a:r>
          </a:p>
          <a:p>
            <a:r>
              <a:t>OSEHRA-HSPC</a:t>
            </a:r>
          </a:p>
        </p:txBody>
      </p:sp>
    </p:spTree>
    <p:extLst>
      <p:ext uri="{BB962C8B-B14F-4D97-AF65-F5344CB8AC3E}">
        <p14:creationId xmlns:p14="http://schemas.microsoft.com/office/powerpoint/2010/main" val="2308856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5F014-934F-4308-8676-5488482B26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68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5F014-934F-4308-8676-5488482B26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68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86290" y="1753862"/>
            <a:ext cx="5257710" cy="3196465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0958" y="1988741"/>
            <a:ext cx="4688374" cy="1470025"/>
          </a:xfrm>
        </p:spPr>
        <p:txBody>
          <a:bodyPr lIns="91440" rIns="91440" anchor="t">
            <a:noAutofit/>
          </a:bodyPr>
          <a:lstStyle>
            <a:lvl1pPr algn="l"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70958" y="3468394"/>
            <a:ext cx="4688374" cy="80129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170363" y="4279719"/>
            <a:ext cx="4689475" cy="452437"/>
          </a:xfr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526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ive 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763819"/>
            <a:ext cx="5257710" cy="3196465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668" y="3044799"/>
            <a:ext cx="4688374" cy="1470025"/>
          </a:xfrm>
        </p:spPr>
        <p:txBody>
          <a:bodyPr lIns="91440" rIns="91440" anchor="t">
            <a:noAutofit/>
          </a:bodyPr>
          <a:lstStyle>
            <a:lvl1pPr algn="l"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668" y="4524452"/>
            <a:ext cx="4688374" cy="80129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284073" y="5335777"/>
            <a:ext cx="4689475" cy="452437"/>
          </a:xfr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4997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044825"/>
            <a:ext cx="7772400" cy="1362075"/>
          </a:xfrm>
        </p:spPr>
        <p:txBody>
          <a:bodyPr anchor="b">
            <a:normAutofit/>
          </a:bodyPr>
          <a:lstStyle>
            <a:lvl1pPr algn="l">
              <a:defRPr sz="28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4406900"/>
            <a:ext cx="7772400" cy="1500187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D2124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5F8B4-E24B-4867-9C9D-72D73E5F8CC2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96" y="383803"/>
            <a:ext cx="3199408" cy="319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0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5496"/>
            <a:ext cx="8229600" cy="4566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58A7E-A704-436A-BF01-E4920549F598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8" name="Picture 17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5496"/>
            <a:ext cx="8229600" cy="4566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A387-B3AE-45A2-8FEA-0403FEA779DF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8" name="Picture 17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8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Present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457200" y="2135012"/>
            <a:ext cx="3197492" cy="319749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607F-1399-4125-9A15-E4C28B5F0269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15284" y="2292381"/>
            <a:ext cx="2881325" cy="2882755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5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sz="half" idx="14"/>
          </p:nvPr>
        </p:nvSpPr>
        <p:spPr>
          <a:xfrm>
            <a:off x="4120011" y="1475496"/>
            <a:ext cx="4566789" cy="45259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897491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resenter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28B7-94B6-4116-8240-4E4FB6AD0B8C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/>
          <p:cNvSpPr>
            <a:spLocks noGrp="1"/>
          </p:cNvSpPr>
          <p:nvPr>
            <p:ph sz="half" idx="15"/>
          </p:nvPr>
        </p:nvSpPr>
        <p:spPr>
          <a:xfrm>
            <a:off x="2828902" y="1521311"/>
            <a:ext cx="5857898" cy="1828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57200" y="1404315"/>
            <a:ext cx="2057400" cy="2057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570136" y="1521312"/>
            <a:ext cx="1828800" cy="18288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9" name="Content Placeholder 2"/>
          <p:cNvSpPr>
            <a:spLocks noGrp="1"/>
          </p:cNvSpPr>
          <p:nvPr>
            <p:ph sz="half" idx="19"/>
          </p:nvPr>
        </p:nvSpPr>
        <p:spPr>
          <a:xfrm>
            <a:off x="2828902" y="3922295"/>
            <a:ext cx="5857898" cy="1828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457200" y="3805299"/>
            <a:ext cx="2057400" cy="20574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570136" y="3922296"/>
            <a:ext cx="1828800" cy="18288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1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resenter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F941-7D14-484D-BC2D-683EE1670BB1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3252881" y="3909170"/>
            <a:ext cx="2633617" cy="2052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6038899" y="3909170"/>
            <a:ext cx="2633472" cy="2052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sz="half" idx="15"/>
          </p:nvPr>
        </p:nvSpPr>
        <p:spPr>
          <a:xfrm>
            <a:off x="473225" y="3909170"/>
            <a:ext cx="2633617" cy="2052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3437082" y="1446277"/>
            <a:ext cx="2284315" cy="228431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3550018" y="1563274"/>
            <a:ext cx="2058443" cy="205032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6219302" y="1446277"/>
            <a:ext cx="2284315" cy="228431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6332238" y="1563274"/>
            <a:ext cx="2058443" cy="205032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2463" y="1446277"/>
            <a:ext cx="2284315" cy="2284315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55399" y="1563274"/>
            <a:ext cx="2058443" cy="205032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resenter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>
            <a:spLocks noChangeAspect="1"/>
          </p:cNvSpPr>
          <p:nvPr/>
        </p:nvSpPr>
        <p:spPr>
          <a:xfrm>
            <a:off x="457200" y="1476104"/>
            <a:ext cx="1371600" cy="1371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D35A-65DE-4772-B8E9-1416C76B9ABC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71500" y="1590404"/>
            <a:ext cx="1143000" cy="1143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5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/>
          <p:cNvSpPr>
            <a:spLocks noGrp="1"/>
          </p:cNvSpPr>
          <p:nvPr>
            <p:ph sz="half" idx="15"/>
          </p:nvPr>
        </p:nvSpPr>
        <p:spPr>
          <a:xfrm>
            <a:off x="2008764" y="1478253"/>
            <a:ext cx="2343906" cy="182774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Oval 27"/>
          <p:cNvSpPr>
            <a:spLocks noChangeAspect="1"/>
          </p:cNvSpPr>
          <p:nvPr/>
        </p:nvSpPr>
        <p:spPr>
          <a:xfrm>
            <a:off x="4791330" y="1473956"/>
            <a:ext cx="1371600" cy="1371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905630" y="1588256"/>
            <a:ext cx="1143000" cy="1143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0" name="Content Placeholder 2"/>
          <p:cNvSpPr>
            <a:spLocks noGrp="1"/>
          </p:cNvSpPr>
          <p:nvPr>
            <p:ph sz="half" idx="17"/>
          </p:nvPr>
        </p:nvSpPr>
        <p:spPr>
          <a:xfrm>
            <a:off x="6342894" y="1476104"/>
            <a:ext cx="2343906" cy="182989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Oval 30"/>
          <p:cNvSpPr>
            <a:spLocks noChangeAspect="1"/>
          </p:cNvSpPr>
          <p:nvPr/>
        </p:nvSpPr>
        <p:spPr>
          <a:xfrm>
            <a:off x="457200" y="3879910"/>
            <a:ext cx="1371600" cy="1371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571500" y="3994210"/>
            <a:ext cx="1143000" cy="1143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3" name="Content Placeholder 2"/>
          <p:cNvSpPr>
            <a:spLocks noGrp="1"/>
          </p:cNvSpPr>
          <p:nvPr>
            <p:ph sz="half" idx="19"/>
          </p:nvPr>
        </p:nvSpPr>
        <p:spPr>
          <a:xfrm>
            <a:off x="2008764" y="3882059"/>
            <a:ext cx="2343906" cy="1820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Oval 33"/>
          <p:cNvSpPr>
            <a:spLocks noChangeAspect="1"/>
          </p:cNvSpPr>
          <p:nvPr/>
        </p:nvSpPr>
        <p:spPr>
          <a:xfrm>
            <a:off x="4791330" y="3877762"/>
            <a:ext cx="1371600" cy="13716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4905630" y="3992062"/>
            <a:ext cx="1143000" cy="1143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6" name="Content Placeholder 2"/>
          <p:cNvSpPr>
            <a:spLocks noGrp="1"/>
          </p:cNvSpPr>
          <p:nvPr>
            <p:ph sz="half" idx="21"/>
          </p:nvPr>
        </p:nvSpPr>
        <p:spPr>
          <a:xfrm>
            <a:off x="6342894" y="3879911"/>
            <a:ext cx="2343906" cy="18230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2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E864F-3B91-45B3-A1DE-4D7490D1A26B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5496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4"/>
          </p:nvPr>
        </p:nvSpPr>
        <p:spPr>
          <a:xfrm>
            <a:off x="4648200" y="1475496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4566164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06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5496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48B69-9394-45A5-B62B-87AD770EA4A6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>
          <a:xfrm>
            <a:off x="4648200" y="1475496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 descr="FHA-logo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566164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5613" y="1475496"/>
            <a:ext cx="3998544" cy="639762"/>
          </a:xfrm>
          <a:solidFill>
            <a:schemeClr val="tx1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E922-5EE0-4E05-9C73-BDEE729E4AFA}" type="datetime4">
              <a:rPr lang="en-US" smtClean="0"/>
              <a:t>August 8, 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115258"/>
            <a:ext cx="3996911" cy="3886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8" name="Picture 17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9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685921" y="1475496"/>
            <a:ext cx="4000879" cy="639762"/>
          </a:xfrm>
          <a:solidFill>
            <a:schemeClr val="tx1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6"/>
          </p:nvPr>
        </p:nvSpPr>
        <p:spPr>
          <a:xfrm>
            <a:off x="4687555" y="2115258"/>
            <a:ext cx="3999245" cy="3886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4566164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489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5613" y="1475496"/>
            <a:ext cx="3998544" cy="639762"/>
          </a:xfrm>
          <a:solidFill>
            <a:schemeClr val="tx1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0DFE-DF5D-4308-8246-0229A4779709}" type="datetime4">
              <a:rPr lang="en-US" smtClean="0"/>
              <a:t>August 8, 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115258"/>
            <a:ext cx="3996911" cy="3886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8" name="Picture 17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9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685921" y="1475496"/>
            <a:ext cx="4000879" cy="639762"/>
          </a:xfrm>
          <a:solidFill>
            <a:schemeClr val="tx1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6"/>
          </p:nvPr>
        </p:nvSpPr>
        <p:spPr>
          <a:xfrm>
            <a:off x="4687555" y="2115258"/>
            <a:ext cx="3999245" cy="3886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4566164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7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2881" y="1475496"/>
            <a:ext cx="2633617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BDD9-61F3-4920-9BF3-B637225D320B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>
          <a:xfrm>
            <a:off x="6038899" y="1475496"/>
            <a:ext cx="2633472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5" name="Picture 14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5956863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2"/>
          <p:cNvSpPr>
            <a:spLocks noGrp="1"/>
          </p:cNvSpPr>
          <p:nvPr>
            <p:ph sz="half" idx="15"/>
          </p:nvPr>
        </p:nvSpPr>
        <p:spPr>
          <a:xfrm>
            <a:off x="473225" y="1475496"/>
            <a:ext cx="2633617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3177207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2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2881" y="1475496"/>
            <a:ext cx="2633617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9624-938D-4C88-A83F-58E772B492C9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>
          <a:xfrm>
            <a:off x="6038899" y="1475496"/>
            <a:ext cx="2633472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5" name="Picture 14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5956863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2"/>
          <p:cNvSpPr>
            <a:spLocks noGrp="1"/>
          </p:cNvSpPr>
          <p:nvPr>
            <p:ph sz="half" idx="15"/>
          </p:nvPr>
        </p:nvSpPr>
        <p:spPr>
          <a:xfrm>
            <a:off x="473225" y="1475496"/>
            <a:ext cx="2633617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3177207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5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27FB-C6CD-4C64-9DA8-8503C47CD9B8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66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08E4-70CB-4987-A217-D257326AB6CD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9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9D0E-7E9B-4A74-AAD5-B292F2A4AD34}" type="datetime4">
              <a:rPr lang="en-US" smtClean="0"/>
              <a:t>August 8, 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117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w/Subtitle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660401" y="1475496"/>
            <a:ext cx="5026399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88441"/>
            <a:ext cx="3008313" cy="361301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F0C9-73A0-4E4C-9942-AE0618A00DB1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7200" y="1475496"/>
            <a:ext cx="3008313" cy="912946"/>
          </a:xfrm>
          <a:solidFill>
            <a:schemeClr val="tx1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3560065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423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88441"/>
            <a:ext cx="3008313" cy="361301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E392-50C1-4FBA-939E-9EC29DF5109C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7200" y="1475496"/>
            <a:ext cx="3008313" cy="912946"/>
          </a:xfrm>
          <a:solidFill>
            <a:schemeClr val="tx1">
              <a:lumMod val="75000"/>
            </a:schemeClr>
          </a:solidFill>
        </p:spPr>
        <p:txBody>
          <a:bodyPr anchor="ctr"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3660401" y="1475496"/>
            <a:ext cx="5026399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3560065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73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32021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1DA50-B1AD-47E2-AEE2-B457742C18FE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77" y="4946226"/>
            <a:ext cx="1131750" cy="113175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0" y="5367338"/>
            <a:ext cx="7320803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73963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32021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DA80B-F648-449E-8740-1FA3ACAD2A18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77" y="4946226"/>
            <a:ext cx="1131750" cy="113175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367338"/>
            <a:ext cx="7318421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5367338"/>
            <a:ext cx="7318421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5381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and Cent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55AF-2AA0-4E12-984D-769FEF8A3EF6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77" y="4946226"/>
            <a:ext cx="1131750" cy="113175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12774"/>
            <a:ext cx="5486400" cy="43334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6531841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and Center No Log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DF4E-1CC7-4C7F-BDC0-01FFF8478770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612774"/>
            <a:ext cx="8229600" cy="53690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042329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98"/>
            <a:ext cx="8229600" cy="45666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5402C-D6FC-4248-9D02-5A13FBD3DA3A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7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98"/>
            <a:ext cx="8229600" cy="45666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178B4-E713-43C5-A389-1EC3BA273229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6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952532"/>
            <a:ext cx="6853915" cy="12140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10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ertical Text Placeholder 2"/>
          <p:cNvSpPr>
            <a:spLocks noGrp="1"/>
          </p:cNvSpPr>
          <p:nvPr>
            <p:ph type="body" orient="vert" idx="13"/>
          </p:nvPr>
        </p:nvSpPr>
        <p:spPr>
          <a:xfrm>
            <a:off x="457200" y="274638"/>
            <a:ext cx="6975656" cy="57207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32677" y="578991"/>
            <a:ext cx="1131750" cy="42210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EB66-EB82-4345-A2B1-5DF2BE7ED7A5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529959" y="274638"/>
            <a:ext cx="0" cy="5851525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14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77" y="4946226"/>
            <a:ext cx="1131750" cy="11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75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w/Sub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4481-208C-4143-B4BF-A72A3A8F2924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5562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961839"/>
            <a:ext cx="6853914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0" baseline="0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 dirty="0"/>
              <a:t>Connect with Federal Health Architecture – We’d Love to Hear from you!</a:t>
            </a:r>
          </a:p>
        </p:txBody>
      </p:sp>
      <p:sp>
        <p:nvSpPr>
          <p:cNvPr id="14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6396715" cy="677894"/>
          </a:xfrm>
        </p:spPr>
        <p:txBody>
          <a:bodyPr>
            <a:normAutofit/>
          </a:bodyPr>
          <a:lstStyle>
            <a:lvl1pPr algn="r">
              <a:defRPr sz="3200" b="1"/>
            </a:lvl1pPr>
          </a:lstStyle>
          <a:p>
            <a:r>
              <a:rPr lang="en-US" dirty="0"/>
              <a:t>Contact Us</a:t>
            </a:r>
          </a:p>
        </p:txBody>
      </p:sp>
      <p:pic>
        <p:nvPicPr>
          <p:cNvPr id="15" name="Picture 14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02" y="199926"/>
            <a:ext cx="1131750" cy="1131750"/>
          </a:xfrm>
          <a:prstGeom prst="rect">
            <a:avLst/>
          </a:prstGeom>
        </p:spPr>
      </p:pic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5496"/>
            <a:ext cx="4959544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4"/>
          </p:nvPr>
        </p:nvSpPr>
        <p:spPr>
          <a:xfrm>
            <a:off x="5719544" y="1475496"/>
            <a:ext cx="2967256" cy="22570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5564660" y="1475496"/>
            <a:ext cx="0" cy="452596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/>
          <p:cNvSpPr>
            <a:spLocks noGrp="1"/>
          </p:cNvSpPr>
          <p:nvPr>
            <p:ph sz="half" idx="15"/>
          </p:nvPr>
        </p:nvSpPr>
        <p:spPr>
          <a:xfrm>
            <a:off x="5719544" y="3945865"/>
            <a:ext cx="2967256" cy="20526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4671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for Coming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A717-0BDD-475C-90CC-4A7D0F3293FE}" type="datetime4">
              <a:rPr lang="en-US" smtClean="0"/>
              <a:t>August 8, 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3324232"/>
            <a:ext cx="6185023" cy="289527"/>
          </a:xfrm>
          <a:solidFill>
            <a:schemeClr val="accent1"/>
          </a:solidFill>
        </p:spPr>
        <p:txBody>
          <a:bodyPr tIns="36576" bIns="0" anchor="t">
            <a:noAutofit/>
          </a:bodyPr>
          <a:lstStyle>
            <a:lvl1pPr marL="0" indent="0" algn="r">
              <a:buNone/>
              <a:defRPr sz="1200" b="0" i="1">
                <a:solidFill>
                  <a:schemeClr val="bg1"/>
                </a:solidFill>
              </a:defRPr>
            </a:lvl1pPr>
            <a:lvl2pPr marL="457200" indent="0" algn="r">
              <a:buNone/>
              <a:defRPr sz="1800"/>
            </a:lvl2pPr>
            <a:lvl3pPr marL="914400" indent="0" algn="r">
              <a:buNone/>
              <a:defRPr sz="1800"/>
            </a:lvl3pPr>
            <a:lvl4pPr marL="1371600" indent="0" algn="r">
              <a:buNone/>
              <a:defRPr sz="1800"/>
            </a:lvl4pPr>
            <a:lvl5pPr marL="1828800" indent="0" algn="r">
              <a:buNone/>
              <a:defRPr sz="1800"/>
            </a:lvl5pPr>
          </a:lstStyle>
          <a:p>
            <a:pPr lvl="0"/>
            <a:r>
              <a:rPr lang="en-US" dirty="0"/>
              <a:t>See you soon</a:t>
            </a:r>
          </a:p>
        </p:txBody>
      </p:sp>
      <p:sp>
        <p:nvSpPr>
          <p:cNvPr id="9" name="Title 16"/>
          <p:cNvSpPr>
            <a:spLocks noGrp="1"/>
          </p:cNvSpPr>
          <p:nvPr>
            <p:ph type="title" hasCustomPrompt="1"/>
          </p:nvPr>
        </p:nvSpPr>
        <p:spPr>
          <a:xfrm>
            <a:off x="0" y="2399747"/>
            <a:ext cx="6185023" cy="915178"/>
          </a:xfrm>
        </p:spPr>
        <p:txBody>
          <a:bodyPr>
            <a:noAutofit/>
          </a:bodyPr>
          <a:lstStyle>
            <a:lvl1pPr algn="r">
              <a:lnSpc>
                <a:spcPct val="70000"/>
              </a:lnSpc>
              <a:defRPr sz="3600" b="1"/>
            </a:lvl1pPr>
          </a:lstStyle>
          <a:p>
            <a:r>
              <a:rPr lang="en-US" dirty="0"/>
              <a:t>THANKS FOR</a:t>
            </a:r>
            <a:br>
              <a:rPr lang="en-US" dirty="0"/>
            </a:br>
            <a:r>
              <a:rPr lang="en-US" dirty="0"/>
              <a:t>COMING</a:t>
            </a:r>
          </a:p>
        </p:txBody>
      </p:sp>
      <p:pic>
        <p:nvPicPr>
          <p:cNvPr id="10" name="Picture 9" descr="FHA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428" y="1960841"/>
            <a:ext cx="2051688" cy="205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666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534B18-1D5E-4FAD-8ECB-09BD9C63D6F3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break-time_increments-0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9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93459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7F9BDA-B288-4FCC-B65E-EF00068FC47F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33F92A-99A0-40E2-9763-9294C6B17564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62217-960F-446A-BCEA-9217345BF325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70"/>
            <a:ext cx="2509998" cy="5419861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764A3D-7AC4-4DE3-AD0C-D6CAAEEEC951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2412B4-CDE3-4C94-B53D-01F71CBBE8AB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849046-1D27-4B00-9E64-AEBA8E551B5B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0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CEE767-DA12-4D6C-88BF-FDDF5EC74943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5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904A9F-4E77-4F72-B568-2AB4CA3252D5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D84108-4A24-410D-B8BA-73792EB3BEC7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5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AC444C-EB31-4E28-B413-302EEE5519A3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0 Minut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D1AF07-DB0F-422B-A48D-458FA80BE849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69"/>
            <a:ext cx="2509998" cy="541986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3188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Time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229F46-1E5B-4ABE-B8A9-939DDCE94CCA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1" y="719070"/>
            <a:ext cx="2509998" cy="5419861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725862"/>
            <a:ext cx="7772400" cy="812675"/>
          </a:xfrm>
        </p:spPr>
        <p:txBody>
          <a:bodyPr anchor="t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>
            <a:lvl1pPr algn="ctr">
              <a:defRPr sz="6000" b="1" cap="all" spc="-130">
                <a:ln w="11430"/>
                <a:solidFill>
                  <a:schemeClr val="tx1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35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 dirty="0"/>
              <a:t>BREAK TIME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4538537"/>
            <a:ext cx="7772400" cy="596770"/>
          </a:xfrm>
        </p:spPr>
        <p:txBody>
          <a:bodyPr anchor="ctr"/>
          <a:lstStyle>
            <a:lvl1pPr marL="0" indent="0" algn="ctr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157850" y="1819660"/>
            <a:ext cx="828675" cy="849312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rgbClr val="000000"/>
                </a:solidFill>
              </a:defRPr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1987793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DVA"/>
          <p:cNvPicPr>
            <a:picLocks noChangeAspect="1" noChangeArrowheads="1"/>
          </p:cNvPicPr>
          <p:nvPr/>
        </p:nvPicPr>
        <p:blipFill>
          <a:blip r:embed="rId2">
            <a:lum bright="52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19200"/>
            <a:ext cx="4267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7475" y="146050"/>
            <a:ext cx="8912225" cy="6588125"/>
            <a:chOff x="74" y="92"/>
            <a:chExt cx="5614" cy="4150"/>
          </a:xfrm>
        </p:grpSpPr>
        <p:sp>
          <p:nvSpPr>
            <p:cNvPr id="4" name="Line 7"/>
            <p:cNvSpPr>
              <a:spLocks noChangeShapeType="1"/>
            </p:cNvSpPr>
            <p:nvPr/>
          </p:nvSpPr>
          <p:spPr bwMode="auto">
            <a:xfrm flipV="1">
              <a:off x="74" y="96"/>
              <a:ext cx="5614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92" y="4224"/>
              <a:ext cx="5574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 flipH="1" flipV="1">
              <a:off x="92" y="92"/>
              <a:ext cx="0" cy="4146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 flipH="1" flipV="1">
              <a:off x="5664" y="96"/>
              <a:ext cx="0" cy="4146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 flipV="1">
              <a:off x="144" y="144"/>
              <a:ext cx="54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144" y="4176"/>
              <a:ext cx="54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H="1" flipV="1">
              <a:off x="144" y="144"/>
              <a:ext cx="0" cy="403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 flipV="1">
              <a:off x="5616" y="144"/>
              <a:ext cx="0" cy="403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165BF3B-9E7D-49D4-BAE8-14ABDF1E6B64}" type="datetime4">
              <a:rPr lang="en-US" smtClean="0"/>
              <a:t>August 8, 2017</a:t>
            </a:fld>
            <a:endParaRPr lang="en-US"/>
          </a:p>
        </p:txBody>
      </p:sp>
      <p:sp>
        <p:nvSpPr>
          <p:cNvPr id="1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FFFC8EE-F13C-4B90-9ED3-9A81DAA189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223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564F4D6-AD05-4BD5-AF04-8AEDE119910A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F078FC8-0847-43B5-8C76-3F7A3BB0F7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790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5E8627-59C9-40F2-B08C-1AC57BCD3A80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D582ACC-D394-48A7-8F19-48BCD84187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376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114800" cy="4754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371600"/>
            <a:ext cx="4114800" cy="4754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C9AAFF-8E44-41F5-A36E-34A69E2CAB0F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71E8D6A-416E-4C70-936A-80EFFCD2DD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BE5D97C-A9D6-4E3C-B2EC-B1F49C738128}" type="datetime4">
              <a:rPr lang="en-US" smtClean="0"/>
              <a:t>August 8, 2017</a:t>
            </a:fld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EF0620-6B7F-4398-A35B-C72F57FFAD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585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55652E-354C-4E87-A6A2-78B6EA1F977E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FCB9C01-AA2F-446A-8D40-B67A452961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677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08BE2E4-F249-45F7-87FA-8A65BAA08AD4}" type="datetime4">
              <a:rPr lang="en-US" smtClean="0"/>
              <a:t>August 8, 2017</a:t>
            </a:fld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093B2FB-E315-4567-A75C-95D29D55E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617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A046549-3E5B-44DC-BAE4-AA2CC485EC5E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DD5DAA8-ABBB-47FC-B486-7100B7C195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174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88CAB83-FD69-4A76-AFDE-A54D49204F08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CB2535-E0E4-4129-90FB-400509798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345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83AD405-DC45-4441-B0D2-9E842B9B1709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D614EE5-58A5-46C6-BD6A-C5CC155D7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0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0"/>
            <a:ext cx="20955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1341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844C22-64F4-415C-B94E-1241D3D4DD5C}" type="datetime4">
              <a:rPr lang="en-US" smtClean="0"/>
              <a:t>August 8, 2017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5E8EF36-F59A-4E8D-A6DC-D3C4FBBCF3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732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46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114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371600"/>
            <a:ext cx="4114800" cy="2300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3824288"/>
            <a:ext cx="4114800" cy="2301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278C9A-02E4-429D-8828-9772916B97D5}" type="datetime4">
              <a:rPr lang="en-US" smtClean="0"/>
              <a:t>August 8, 2017</a:t>
            </a:fld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0F35E04-BE5B-4794-A236-C95DDAEF2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image" Target="../media/image1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10623" cy="677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5330"/>
            <a:ext cx="8229600" cy="4800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17AB8DF8-3B99-4747-AAF1-EFE0B36D59B1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556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6116" y="18678"/>
            <a:ext cx="360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F8059506-D6B1-B842-AAB5-13291BE98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6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  <p:sldLayoutId id="2147483761" r:id="rId27"/>
    <p:sldLayoutId id="2147483762" r:id="rId28"/>
    <p:sldLayoutId id="2147483763" r:id="rId29"/>
    <p:sldLayoutId id="2147483764" r:id="rId30"/>
    <p:sldLayoutId id="2147483765" r:id="rId31"/>
    <p:sldLayoutId id="2147483766" r:id="rId32"/>
    <p:sldLayoutId id="2147483767" r:id="rId33"/>
    <p:sldLayoutId id="2147483768" r:id="rId34"/>
    <p:sldLayoutId id="2147483769" r:id="rId35"/>
    <p:sldLayoutId id="2147483770" r:id="rId36"/>
    <p:sldLayoutId id="2147483771" r:id="rId37"/>
    <p:sldLayoutId id="2147483772" r:id="rId38"/>
    <p:sldLayoutId id="2147483773" r:id="rId39"/>
    <p:sldLayoutId id="2147483774" r:id="rId40"/>
    <p:sldLayoutId id="2147483775" r:id="rId41"/>
    <p:sldLayoutId id="2147483776" r:id="rId4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017A4066-1C8F-4886-9762-963FEFE15F5C}" type="datetime4">
              <a:rPr lang="en-US" smtClean="0"/>
              <a:t>August 8, 2017</a:t>
            </a:fld>
            <a:endParaRPr lang="en-US"/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21606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B37BFA6A-061A-4B79-83A7-BDC8DFB5EFC7}" type="slidenum">
              <a:rPr lang="en-US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0"/>
            <a:ext cx="746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3820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31" name="Picture 7" descr="DVA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/>
          <p:cNvSpPr>
            <a:spLocks noChangeShapeType="1"/>
          </p:cNvSpPr>
          <p:nvPr/>
        </p:nvSpPr>
        <p:spPr bwMode="auto">
          <a:xfrm flipV="1">
            <a:off x="1447800" y="762000"/>
            <a:ext cx="7315200" cy="0"/>
          </a:xfrm>
          <a:prstGeom prst="line">
            <a:avLst/>
          </a:prstGeom>
          <a:noFill/>
          <a:ln w="762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 flipV="1">
            <a:off x="1447800" y="838200"/>
            <a:ext cx="731520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6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Marco.demartin@hhs.gov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7659" y="2669161"/>
            <a:ext cx="4688374" cy="1470025"/>
          </a:xfrm>
        </p:spPr>
        <p:txBody>
          <a:bodyPr/>
          <a:lstStyle/>
          <a:p>
            <a:r>
              <a:rPr lang="en-US" sz="3600" dirty="0"/>
              <a:t>FHA </a:t>
            </a:r>
            <a:r>
              <a:rPr lang="en-US" sz="3600" dirty="0" smtClean="0"/>
              <a:t>August</a:t>
            </a:r>
            <a:br>
              <a:rPr lang="en-US" sz="3600" dirty="0" smtClean="0"/>
            </a:br>
            <a:r>
              <a:rPr lang="en-US" sz="3600" dirty="0" smtClean="0"/>
              <a:t>Architecture </a:t>
            </a:r>
            <a:r>
              <a:rPr lang="en-US" sz="3600" dirty="0"/>
              <a:t>Council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August </a:t>
            </a:r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10, 2017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72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090282"/>
              </p:ext>
            </p:extLst>
          </p:nvPr>
        </p:nvGraphicFramePr>
        <p:xfrm>
          <a:off x="441434" y="1484480"/>
          <a:ext cx="8229600" cy="447959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4958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337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59949">
                <a:tc>
                  <a:txBody>
                    <a:bodyPr/>
                    <a:lstStyle/>
                    <a:p>
                      <a:r>
                        <a:rPr lang="en-US" sz="140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effectLst/>
                        </a:rPr>
                        <a:t>10:05 </a:t>
                      </a:r>
                      <a:r>
                        <a:rPr lang="en-US" sz="1400" kern="1200" dirty="0">
                          <a:effectLst/>
                        </a:rPr>
                        <a:t>AM </a:t>
                      </a:r>
                      <a:endParaRPr lang="en-US" sz="1400" b="0" i="0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/>
                        <a:cs typeface="Georg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Welcome, </a:t>
                      </a:r>
                      <a:r>
                        <a:rPr lang="en-US" sz="1400" dirty="0" smtClean="0"/>
                        <a:t>Introductions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10:10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 smtClean="0">
                          <a:solidFill>
                            <a:schemeClr val="tx1"/>
                          </a:solidFill>
                        </a:rPr>
                        <a:t>Harmonizing NIEM to Clinical Health Standards</a:t>
                      </a:r>
                      <a:endParaRPr lang="en-US" sz="1400" b="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10:30</a:t>
                      </a:r>
                      <a:r>
                        <a:rPr lang="en-US" sz="14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 </a:t>
                      </a:r>
                      <a:r>
                        <a:rPr lang="en-US" sz="14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AM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Georg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CONNECT - Prescription Drug Monitoring Program (PDMP)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10:50</a:t>
                      </a:r>
                      <a:r>
                        <a:rPr lang="en-US" sz="14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 </a:t>
                      </a:r>
                      <a:r>
                        <a:rPr lang="en-US" sz="14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AM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Georg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FHIM Current Status and Transition Planning</a:t>
                      </a:r>
                      <a:endParaRPr lang="en-US" sz="1400" b="0" i="0" u="none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11:10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 smtClean="0"/>
                        <a:t>Management of Gender Data and </a:t>
                      </a:r>
                      <a:r>
                        <a:rPr lang="en-US" sz="1400" b="0" i="0" u="non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Security Architecture</a:t>
                      </a:r>
                      <a:r>
                        <a:rPr lang="en-US" sz="1400" b="0" i="0" u="non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u="non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  <a:endParaRPr lang="en-US" sz="1400" b="0" i="0" u="none" dirty="0" smtClean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11:40</a:t>
                      </a:r>
                      <a:r>
                        <a:rPr lang="en-US" sz="14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 AM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Georg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dirty="0" smtClean="0">
                          <a:latin typeface="+mn-lt"/>
                        </a:rPr>
                        <a:t>Round</a:t>
                      </a:r>
                      <a:r>
                        <a:rPr lang="en-US" sz="1400" b="0" i="0" u="none" baseline="0" dirty="0" smtClean="0">
                          <a:latin typeface="+mn-lt"/>
                        </a:rPr>
                        <a:t> Table Updates/Discussion</a:t>
                      </a:r>
                      <a:endParaRPr lang="en-US" sz="1400" b="0" i="0" u="none" dirty="0" smtClean="0">
                        <a:latin typeface="+mn-lt"/>
                      </a:endParaRPr>
                    </a:p>
                  </a:txBody>
                  <a:tcPr anchor="ctr"/>
                </a:tc>
              </a:tr>
              <a:tr h="55994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11:55</a:t>
                      </a:r>
                      <a:r>
                        <a:rPr lang="en-US" sz="14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Georgia"/>
                        </a:rPr>
                        <a:t> AM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Georgi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dirty="0" smtClean="0">
                        <a:latin typeface="+mn-lt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Agenda-at-a-Glance</a:t>
            </a:r>
          </a:p>
        </p:txBody>
      </p:sp>
    </p:spTree>
    <p:extLst>
      <p:ext uri="{BB962C8B-B14F-4D97-AF65-F5344CB8AC3E}">
        <p14:creationId xmlns:p14="http://schemas.microsoft.com/office/powerpoint/2010/main" val="34489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team member</a:t>
            </a:r>
          </a:p>
          <a:p>
            <a:r>
              <a:rPr lang="en-US" dirty="0" smtClean="0"/>
              <a:t>Marco Demartin</a:t>
            </a:r>
          </a:p>
          <a:p>
            <a:r>
              <a:rPr lang="en-US" dirty="0" smtClean="0">
                <a:hlinkClick r:id="rId2"/>
              </a:rPr>
              <a:t>Marco.demartin@hhs.gov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Alberto will support the NIEM effort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57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/>
              <a:t>INFORMATIONAL: Harmonizing NIEM to clinical healthcare standards</a:t>
            </a:r>
            <a:endParaRPr lang="en-US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Cait Ryan, Project Manager</a:t>
            </a:r>
          </a:p>
          <a:p>
            <a:r>
              <a:rPr lang="en-US" dirty="0">
                <a:solidFill>
                  <a:srgbClr val="C00000"/>
                </a:solidFill>
              </a:rPr>
              <a:t>Alberto S. Llanes, PhD, Lead Architect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2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38BD6D3-2F29-4E6A-A0C4-423DF6EB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35" y="1350240"/>
            <a:ext cx="7203991" cy="405441"/>
          </a:xfrm>
        </p:spPr>
        <p:txBody>
          <a:bodyPr/>
          <a:lstStyle/>
          <a:p>
            <a:r>
              <a:rPr lang="en-US" dirty="0"/>
              <a:t>FHA became </a:t>
            </a:r>
            <a:r>
              <a:rPr lang="en-US" b="1" dirty="0"/>
              <a:t>steward</a:t>
            </a:r>
            <a:r>
              <a:rPr lang="en-US" dirty="0"/>
              <a:t> for the NIEM Health Domain in 2013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47BE52-4AF5-4329-A3F9-B953E285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E7DB2-5B89-834E-90F7-738AE6A93FDA}" type="datetime4">
              <a:rPr lang="en-US" smtClean="0"/>
              <a:t>August 8, 2017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3AB7594C-E717-4D43-B2F7-E21ED559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FHA’s Role in NIEM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CC8BB43-ECB1-4DAC-8332-EF10442706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8059506-D6B1-B842-AAB5-13291BE98BD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Content Placeholder 12" descr="niem-core.png">
            <a:extLst>
              <a:ext uri="{FF2B5EF4-FFF2-40B4-BE49-F238E27FC236}">
                <a16:creationId xmlns="" xmlns:a16="http://schemas.microsoft.com/office/drawing/2014/main" id="{B9A4D6AC-3B07-442D-AE12-708E73F2CCF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667" y="2293232"/>
            <a:ext cx="4892053" cy="31007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87209E1-BACF-4471-8C5F-CF33E60BF153}"/>
              </a:ext>
            </a:extLst>
          </p:cNvPr>
          <p:cNvSpPr/>
          <p:nvPr/>
        </p:nvSpPr>
        <p:spPr>
          <a:xfrm>
            <a:off x="217535" y="2209296"/>
            <a:ext cx="4191905" cy="2369880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ONC was previous steward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Little development; </a:t>
            </a:r>
            <a:r>
              <a:rPr lang="en-US" sz="2000" b="1" dirty="0">
                <a:solidFill>
                  <a:srgbClr val="000000"/>
                </a:solidFill>
              </a:rPr>
              <a:t>no resources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Unlike other domains, health does not have an immediate business need for NIEM.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HL7 v2, C-CDA, FHIR, FHIM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SNOMED, RxNorm, LOINC, NCPDP, ICD-10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877716F-FC82-4F79-9EE5-444BC3E87020}"/>
              </a:ext>
            </a:extLst>
          </p:cNvPr>
          <p:cNvSpPr txBox="1"/>
          <p:nvPr/>
        </p:nvSpPr>
        <p:spPr>
          <a:xfrm>
            <a:off x="7207251" y="5215501"/>
            <a:ext cx="1998298" cy="29238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</a:rPr>
              <a:t>Picture taken from niem.gov</a:t>
            </a:r>
          </a:p>
        </p:txBody>
      </p:sp>
    </p:spTree>
    <p:extLst>
      <p:ext uri="{BB962C8B-B14F-4D97-AF65-F5344CB8AC3E}">
        <p14:creationId xmlns:p14="http://schemas.microsoft.com/office/powerpoint/2010/main" val="380034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5291" y="1222772"/>
            <a:ext cx="8727187" cy="4417368"/>
          </a:xfrm>
        </p:spPr>
        <p:txBody>
          <a:bodyPr/>
          <a:lstStyle/>
          <a:p>
            <a:r>
              <a:rPr lang="en-US" sz="2100" b="1" dirty="0"/>
              <a:t>Designed </a:t>
            </a:r>
            <a:r>
              <a:rPr lang="en-US" sz="2100" dirty="0"/>
              <a:t>to solve an over-arching business need: </a:t>
            </a:r>
            <a:r>
              <a:rPr lang="en-US" sz="2100" b="1" dirty="0"/>
              <a:t>Interoperability</a:t>
            </a:r>
          </a:p>
          <a:p>
            <a:r>
              <a:rPr lang="en-US" sz="2100" dirty="0"/>
              <a:t>Several </a:t>
            </a:r>
            <a:r>
              <a:rPr lang="en-US" sz="2100" b="1" dirty="0"/>
              <a:t>FHA partner </a:t>
            </a:r>
            <a:r>
              <a:rPr lang="en-US" sz="2100" dirty="0"/>
              <a:t>agencies and organizations use NIEM including: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800" dirty="0"/>
              <a:t>DoD (a DoD CIO “</a:t>
            </a:r>
            <a:r>
              <a:rPr lang="en-US" sz="1800" b="1" dirty="0"/>
              <a:t>NIEM First</a:t>
            </a:r>
            <a:r>
              <a:rPr lang="en-US" sz="1800" dirty="0"/>
              <a:t>” approach &amp; </a:t>
            </a:r>
            <a:r>
              <a:rPr lang="en-US" sz="1800" dirty="0" err="1"/>
              <a:t>MilOps</a:t>
            </a:r>
            <a:r>
              <a:rPr lang="en-US" sz="1800" dirty="0"/>
              <a:t> Domain)</a:t>
            </a:r>
          </a:p>
          <a:p>
            <a:pPr marL="800080" lvl="1" indent="-34289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HHS ACF (a Human Services Domain)</a:t>
            </a:r>
          </a:p>
          <a:p>
            <a:r>
              <a:rPr lang="en-US" sz="2100" dirty="0"/>
              <a:t>Leveraged throughout federal and state law enforcement, intelligence, and public safety with </a:t>
            </a:r>
            <a:r>
              <a:rPr lang="en-US" sz="2100" b="1" dirty="0"/>
              <a:t>agency supported </a:t>
            </a:r>
            <a:r>
              <a:rPr lang="en-US" sz="2100" dirty="0"/>
              <a:t>domains including: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800" dirty="0"/>
              <a:t>Chemical, Biological, Radiological and Nuclear (CBRN)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800" dirty="0"/>
              <a:t>Infrastructure Protection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800" dirty="0"/>
              <a:t>Intelligence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800" dirty="0"/>
              <a:t>Justice</a:t>
            </a:r>
          </a:p>
          <a:p>
            <a:pPr marL="800080" lvl="1" indent="-34289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Maritime</a:t>
            </a:r>
          </a:p>
          <a:p>
            <a:r>
              <a:rPr lang="en-US" sz="2100" b="1" dirty="0"/>
              <a:t>Clear </a:t>
            </a:r>
            <a:r>
              <a:rPr lang="en-US" sz="2100" dirty="0"/>
              <a:t>communications among organizations and externally</a:t>
            </a:r>
          </a:p>
          <a:p>
            <a:pPr marL="800080" lvl="1" indent="-342891">
              <a:buFont typeface="Arial" panose="020B0604020202020204" pitchFamily="34" charset="0"/>
              <a:buChar char="•"/>
            </a:pPr>
            <a:r>
              <a:rPr lang="en-US" sz="1800" dirty="0"/>
              <a:t>Need to use same code sets to so that the information exchanged is accurate</a:t>
            </a:r>
          </a:p>
          <a:p>
            <a:pPr lvl="1"/>
            <a:endParaRPr lang="en-US" sz="2100" dirty="0"/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dirty="0"/>
          </a:p>
          <a:p>
            <a:pPr marL="800080" lvl="1" indent="-342891">
              <a:buFont typeface="Arial" panose="020B0604020202020204" pitchFamily="34" charset="0"/>
              <a:buChar char="•"/>
            </a:pPr>
            <a:endParaRPr lang="en-US" sz="2100" dirty="0"/>
          </a:p>
          <a:p>
            <a:pPr marL="800080" lvl="1" indent="-34289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833F-4A84-E342-A425-ACDB98154BBD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NIEM: Why it matters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8059506-D6B1-B842-AAB5-13291BE98BD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56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F6E81D1-7126-41C4-B866-F2CBF51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833F-4A84-E342-A425-ACDB98154BBD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6EE1F74-A062-4590-9164-EBD7CD02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73" y="336115"/>
            <a:ext cx="6852744" cy="50842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Through the Years: Partner’s Using NIEM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21F0358-933B-4AF9-B93D-B8CA5AA40E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8059506-D6B1-B842-AAB5-13291BE98BD7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="" xmlns:a16="http://schemas.microsoft.com/office/drawing/2014/main" id="{90918FF0-B7BE-4CD7-B4B5-8D3C607A08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6893230"/>
              </p:ext>
            </p:extLst>
          </p:nvPr>
        </p:nvGraphicFramePr>
        <p:xfrm>
          <a:off x="294290" y="1813691"/>
          <a:ext cx="8693263" cy="338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0271044-E0F4-40FF-BC52-A61BD8D1A088}"/>
              </a:ext>
            </a:extLst>
          </p:cNvPr>
          <p:cNvSpPr txBox="1"/>
          <p:nvPr/>
        </p:nvSpPr>
        <p:spPr>
          <a:xfrm>
            <a:off x="3071470" y="3839842"/>
            <a:ext cx="1624799" cy="80021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accent2"/>
                </a:solidFill>
              </a:rPr>
              <a:t>2013</a:t>
            </a:r>
          </a:p>
          <a:p>
            <a:pPr algn="ctr"/>
            <a:r>
              <a:rPr lang="en-US" sz="1100" dirty="0"/>
              <a:t>FHA becomes the</a:t>
            </a:r>
          </a:p>
          <a:p>
            <a:pPr algn="ctr"/>
            <a:r>
              <a:rPr lang="en-US" sz="1100" b="1" dirty="0"/>
              <a:t>NIEM Health Domain</a:t>
            </a:r>
          </a:p>
          <a:p>
            <a:pPr algn="ctr"/>
            <a:r>
              <a:rPr lang="en-US" sz="1100" b="1" dirty="0"/>
              <a:t>Steward</a:t>
            </a:r>
          </a:p>
        </p:txBody>
      </p:sp>
    </p:spTree>
    <p:extLst>
      <p:ext uri="{BB962C8B-B14F-4D97-AF65-F5344CB8AC3E}">
        <p14:creationId xmlns:p14="http://schemas.microsoft.com/office/powerpoint/2010/main" val="180623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2465" y="586718"/>
            <a:ext cx="6396715" cy="50842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Overview</a:t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6E6030FC-FB78-5E4D-92EA-5D9433591EA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DBD13AA-110E-49EB-8C3F-15B211059BF7}"/>
              </a:ext>
            </a:extLst>
          </p:cNvPr>
          <p:cNvSpPr/>
          <p:nvPr/>
        </p:nvSpPr>
        <p:spPr>
          <a:xfrm>
            <a:off x="392465" y="4193944"/>
            <a:ext cx="3969875" cy="1523490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pPr marL="0" lvl="1"/>
            <a:r>
              <a:rPr lang="en-US" sz="1300" dirty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  <a:p>
            <a:pPr marL="0" lvl="1"/>
            <a:r>
              <a:rPr lang="en-US" sz="1300" b="1" dirty="0">
                <a:solidFill>
                  <a:srgbClr val="00506F"/>
                </a:solidFill>
              </a:rPr>
              <a:t>NIEM core </a:t>
            </a:r>
            <a:r>
              <a:rPr lang="en-US" sz="1300" dirty="0">
                <a:solidFill>
                  <a:schemeClr val="tx1">
                    <a:lumMod val="75000"/>
                  </a:schemeClr>
                </a:solidFill>
              </a:rPr>
              <a:t>includes data elements commonly understood across all NIEM domains, such as person, activity, location, and item. </a:t>
            </a:r>
          </a:p>
          <a:p>
            <a:pPr marL="0" lvl="1"/>
            <a:endParaRPr lang="en-US" sz="1300" b="1" dirty="0">
              <a:solidFill>
                <a:schemeClr val="tx2"/>
              </a:solidFill>
            </a:endParaRPr>
          </a:p>
          <a:p>
            <a:pPr marL="0" lvl="1"/>
            <a:r>
              <a:rPr lang="en-US" sz="1300" b="1" dirty="0">
                <a:solidFill>
                  <a:srgbClr val="00506F"/>
                </a:solidFill>
              </a:rPr>
              <a:t>NIEM domains </a:t>
            </a:r>
            <a:r>
              <a:rPr lang="en-US" sz="1300" dirty="0">
                <a:solidFill>
                  <a:schemeClr val="tx1">
                    <a:lumMod val="75000"/>
                  </a:schemeClr>
                </a:solidFill>
              </a:rPr>
              <a:t>contain mission-specific data components that build upon NIEM core concepts.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C1F0272-C88F-4F0F-AE4F-C2EE8307B043}"/>
              </a:ext>
            </a:extLst>
          </p:cNvPr>
          <p:cNvSpPr txBox="1"/>
          <p:nvPr/>
        </p:nvSpPr>
        <p:spPr>
          <a:xfrm>
            <a:off x="7158384" y="6573221"/>
            <a:ext cx="1874866" cy="29238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</a:schemeClr>
                </a:solidFill>
              </a:rPr>
              <a:t>Slide taken from niem.gov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4287820-8C56-4414-B2FB-C6BDD2749380}"/>
              </a:ext>
            </a:extLst>
          </p:cNvPr>
          <p:cNvSpPr/>
          <p:nvPr/>
        </p:nvSpPr>
        <p:spPr>
          <a:xfrm>
            <a:off x="7237856" y="1324098"/>
            <a:ext cx="2014505" cy="284692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r>
              <a:rPr lang="en-US" sz="1500" b="1" i="1" dirty="0">
                <a:solidFill>
                  <a:srgbClr val="00506F"/>
                </a:solidFill>
              </a:rPr>
              <a:t>NIEM is not </a:t>
            </a:r>
            <a:r>
              <a:rPr lang="en-US" sz="1500" dirty="0">
                <a:solidFill>
                  <a:srgbClr val="646769"/>
                </a:solidFill>
              </a:rPr>
              <a:t>a system or database; it does not specify how to transmit or store data</a:t>
            </a:r>
          </a:p>
          <a:p>
            <a:endParaRPr lang="en-US" sz="1500" dirty="0">
              <a:solidFill>
                <a:srgbClr val="646769"/>
              </a:solidFill>
            </a:endParaRPr>
          </a:p>
          <a:p>
            <a:r>
              <a:rPr lang="en-US" sz="1500" b="1" i="1" dirty="0">
                <a:solidFill>
                  <a:srgbClr val="00506F"/>
                </a:solidFill>
              </a:rPr>
              <a:t>NIEM is </a:t>
            </a:r>
            <a:r>
              <a:rPr lang="en-US" sz="1500" dirty="0">
                <a:solidFill>
                  <a:srgbClr val="666869"/>
                </a:solidFill>
              </a:rPr>
              <a:t>a standard way of defining the contents of messages being exchanged </a:t>
            </a:r>
          </a:p>
          <a:p>
            <a:pPr lvl="1"/>
            <a:endParaRPr lang="en-US" sz="1200" dirty="0"/>
          </a:p>
        </p:txBody>
      </p:sp>
      <p:pic>
        <p:nvPicPr>
          <p:cNvPr id="10" name="Picture 2" descr="C:\Users\yqutub\AppData\Local\Temp\wz10f2\What is NIEM graphic files\blue circle group.png">
            <a:extLst>
              <a:ext uri="{FF2B5EF4-FFF2-40B4-BE49-F238E27FC236}">
                <a16:creationId xmlns="" xmlns:a16="http://schemas.microsoft.com/office/drawing/2014/main" id="{5E6ECE72-8C97-44B1-A804-A5D88897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399" y="2366429"/>
            <a:ext cx="1860287" cy="82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C:\Users\yqutub\AppData\Local\Temp\wzf0d5\What is NIEM graphic files\green_circle group.png">
            <a:extLst>
              <a:ext uri="{FF2B5EF4-FFF2-40B4-BE49-F238E27FC236}">
                <a16:creationId xmlns="" xmlns:a16="http://schemas.microsoft.com/office/drawing/2014/main" id="{6B1DDB7D-CFB6-4EB9-8DA2-67D8ABAAC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657" y="1527838"/>
            <a:ext cx="1654232" cy="125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:\Users\yqutub\AppData\Local\Temp\wz0abb\What is NIEM graphic files\orange circle group.png">
            <a:extLst>
              <a:ext uri="{FF2B5EF4-FFF2-40B4-BE49-F238E27FC236}">
                <a16:creationId xmlns="" xmlns:a16="http://schemas.microsoft.com/office/drawing/2014/main" id="{C26C374E-604B-4CC6-9FBF-BD461F1C6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893" y="2190972"/>
            <a:ext cx="2008391" cy="173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 descr="C:\Users\yqutub\AppData\Local\Temp\wzc0e0\What is NIEM graphic files\NIEM data model elements box.png">
            <a:extLst>
              <a:ext uri="{FF2B5EF4-FFF2-40B4-BE49-F238E27FC236}">
                <a16:creationId xmlns="" xmlns:a16="http://schemas.microsoft.com/office/drawing/2014/main" id="{9FA72E81-A27B-4211-B0A7-74090040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313" y="1675358"/>
            <a:ext cx="1189079" cy="138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C:\Users\yqutub\AppData\Local\Temp\wzffb3\What is NIEM graphic files\org A box.png">
            <a:extLst>
              <a:ext uri="{FF2B5EF4-FFF2-40B4-BE49-F238E27FC236}">
                <a16:creationId xmlns="" xmlns:a16="http://schemas.microsoft.com/office/drawing/2014/main" id="{D5EDA3F9-971C-4159-B832-326336997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07" y="1378471"/>
            <a:ext cx="1235767" cy="92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yqutub\AppData\Local\Temp\wz3978\What is NIEM graphic files\org B box.png">
            <a:extLst>
              <a:ext uri="{FF2B5EF4-FFF2-40B4-BE49-F238E27FC236}">
                <a16:creationId xmlns="" xmlns:a16="http://schemas.microsoft.com/office/drawing/2014/main" id="{FE18F59E-40FB-45CA-ACFD-4842FF704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2" y="2541730"/>
            <a:ext cx="1267292" cy="95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C:\Users\yqutub\AppData\Local\Temp\wzc0a1\What is NIEM graphic files\bottom soften blue circle group.png">
            <a:extLst>
              <a:ext uri="{FF2B5EF4-FFF2-40B4-BE49-F238E27FC236}">
                <a16:creationId xmlns="" xmlns:a16="http://schemas.microsoft.com/office/drawing/2014/main" id="{3A6A9702-8A53-407D-A056-054CB664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685" y="2440447"/>
            <a:ext cx="1629636" cy="1362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C:\Users\yqutub\AppData\Local\Temp\wzf123\What is NIEM graphic files\soften blue circle group.png">
            <a:extLst>
              <a:ext uri="{FF2B5EF4-FFF2-40B4-BE49-F238E27FC236}">
                <a16:creationId xmlns="" xmlns:a16="http://schemas.microsoft.com/office/drawing/2014/main" id="{99C31D43-79C3-410A-B05C-4198CE287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461" y="1324098"/>
            <a:ext cx="1564417" cy="119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C:\Users\yqutub\AppData\Local\Temp\wzbd76\What is NIEM graphic files\NIEM box.png">
            <a:extLst>
              <a:ext uri="{FF2B5EF4-FFF2-40B4-BE49-F238E27FC236}">
                <a16:creationId xmlns="" xmlns:a16="http://schemas.microsoft.com/office/drawing/2014/main" id="{83E85302-E948-4488-8886-8B535ACBD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513" y="1324097"/>
            <a:ext cx="1563495" cy="104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1" descr="C:\Users\yqutub\AppData\Local\Temp\wzdb52\What is NIEM graphic files\NIEM box.png">
            <a:extLst>
              <a:ext uri="{FF2B5EF4-FFF2-40B4-BE49-F238E27FC236}">
                <a16:creationId xmlns="" xmlns:a16="http://schemas.microsoft.com/office/drawing/2014/main" id="{7B9AC352-C1EA-4C28-8AF9-384F8F844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353" y="2411620"/>
            <a:ext cx="1563495" cy="104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Content Placeholder 12" descr="niem-core.png">
            <a:extLst>
              <a:ext uri="{FF2B5EF4-FFF2-40B4-BE49-F238E27FC236}">
                <a16:creationId xmlns="" xmlns:a16="http://schemas.microsoft.com/office/drawing/2014/main" id="{BCA92A4B-E61B-47DC-ADA0-605BD21A8ED1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100" y="3368411"/>
            <a:ext cx="4892053" cy="310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3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 bwMode="auto">
          <a:xfrm>
            <a:off x="107894" y="1071074"/>
            <a:ext cx="8810639" cy="4726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10A25"/>
              </a:buClr>
              <a:buChar char="•"/>
              <a:defRPr lang="en-US" sz="2800" dirty="0" smtClean="0">
                <a:solidFill>
                  <a:schemeClr val="accent1"/>
                </a:solidFill>
                <a:latin typeface="Calibri" panose="020F0502020204030204" pitchFamily="34" charset="0"/>
                <a:ea typeface="MS PGothic" pitchFamily="34" charset="-128"/>
                <a:cs typeface="Calibri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–"/>
              <a:defRPr lang="en-US" sz="2800" dirty="0" smtClean="0">
                <a:solidFill>
                  <a:schemeClr val="accent1"/>
                </a:solidFill>
                <a:latin typeface="Calibri" panose="020F0502020204030204" pitchFamily="34" charset="0"/>
                <a:ea typeface="MS PGothic" pitchFamily="34" charset="-128"/>
                <a:cs typeface="Calibri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lang="en-US" sz="2400" dirty="0" smtClean="0">
                <a:solidFill>
                  <a:schemeClr val="accent1"/>
                </a:solidFill>
                <a:latin typeface="Calibri" panose="020F0502020204030204" pitchFamily="34" charset="0"/>
                <a:ea typeface="MS PGothic" pitchFamily="34" charset="-128"/>
                <a:cs typeface="Calibri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lang="en-US" sz="2000" dirty="0" smtClean="0">
                <a:solidFill>
                  <a:srgbClr val="013F80"/>
                </a:solidFill>
                <a:latin typeface="Calibri" panose="020F0502020204030204" pitchFamily="34" charset="0"/>
                <a:ea typeface="MS PGothic" pitchFamily="34" charset="-128"/>
                <a:cs typeface="Calibri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lang="en-US" sz="2000" dirty="0">
                <a:solidFill>
                  <a:srgbClr val="013F80"/>
                </a:solidFill>
                <a:latin typeface="Calibri" panose="020F0502020204030204" pitchFamily="34" charset="0"/>
                <a:ea typeface="MS PGothic" pitchFamily="34" charset="-128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C3E3D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C3E3D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C3E3D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C3E3D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Purpose</a:t>
            </a:r>
          </a:p>
          <a:p>
            <a:pPr marL="533387" lvl="1" indent="0">
              <a:buNone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Better position federal, state, and local agencies to use the standards to interoperate with a greater degree of precision and </a:t>
            </a:r>
            <a:r>
              <a:rPr lang="en-US" sz="1300" dirty="0" smtClean="0">
                <a:solidFill>
                  <a:srgbClr val="010203"/>
                </a:solidFill>
                <a:latin typeface="+mn-lt"/>
              </a:rPr>
              <a:t>consistency. Formalize </a:t>
            </a:r>
            <a:r>
              <a:rPr lang="en-US" sz="1300" dirty="0">
                <a:solidFill>
                  <a:srgbClr val="010203"/>
                </a:solidFill>
                <a:latin typeface="+mn-lt"/>
              </a:rPr>
              <a:t>the relationship between the NIEM health domain and the standards in FHIM; develop the NIEM health domain where necessary to accommodate the value sets and codes in Consolidated- Clinical Document Architecture (C-CDA) and FHIR.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Goals and Objectives</a:t>
            </a:r>
          </a:p>
          <a:p>
            <a:pPr marL="590536" lvl="1" indent="0">
              <a:buNone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Create and </a:t>
            </a:r>
            <a:r>
              <a:rPr lang="en-US" sz="1300" dirty="0" smtClean="0">
                <a:solidFill>
                  <a:srgbClr val="010203"/>
                </a:solidFill>
                <a:latin typeface="+mn-lt"/>
              </a:rPr>
              <a:t>publish </a:t>
            </a:r>
            <a:r>
              <a:rPr lang="en-US" sz="1300" dirty="0">
                <a:solidFill>
                  <a:srgbClr val="010203"/>
                </a:solidFill>
                <a:latin typeface="+mn-lt"/>
              </a:rPr>
              <a:t>online resources that enables health information exchange among the NIEM domains.</a:t>
            </a:r>
          </a:p>
          <a:p>
            <a:pPr marL="57149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Deliverables</a:t>
            </a:r>
          </a:p>
          <a:p>
            <a:pPr lvl="1">
              <a:buClr>
                <a:srgbClr val="010203"/>
              </a:buClr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Lead the NIEM Health Domain Work Group, coordinating with other domains to identify and formalize UC requiring NIEM health domain elements.</a:t>
            </a:r>
          </a:p>
          <a:p>
            <a:pPr lvl="1">
              <a:buClr>
                <a:srgbClr val="010203"/>
              </a:buClr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Create a NIEM Health Domain UML model </a:t>
            </a:r>
          </a:p>
          <a:p>
            <a:pPr lvl="1">
              <a:buClr>
                <a:srgbClr val="010203"/>
              </a:buClr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Active participation and contribution to the NIEM Business Architecture Committee (NBAC) and NIEM Technical Architecture Committee (NTAC) discussions.</a:t>
            </a:r>
          </a:p>
          <a:p>
            <a:pPr lvl="1">
              <a:buClr>
                <a:srgbClr val="010203"/>
              </a:buClr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Participation in the annual NIEM Face-2-Face in Arlington, VA. </a:t>
            </a:r>
          </a:p>
          <a:p>
            <a:pPr marL="76198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Timeline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	</a:t>
            </a:r>
            <a:r>
              <a:rPr lang="en-US" sz="1300" dirty="0">
                <a:solidFill>
                  <a:srgbClr val="010203"/>
                </a:solidFill>
                <a:latin typeface="+mn-lt"/>
              </a:rPr>
              <a:t>Efforts begin July 2017, duration TBD</a:t>
            </a:r>
            <a:endParaRPr lang="en-US" sz="1300" b="1" dirty="0">
              <a:solidFill>
                <a:srgbClr val="010203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Resources</a:t>
            </a:r>
          </a:p>
          <a:p>
            <a:pPr marL="457189" lvl="1" indent="0">
              <a:buNone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FHA Sr. Technical Expert (1 FTE)</a:t>
            </a:r>
          </a:p>
          <a:p>
            <a:pPr marL="457189" lvl="1" indent="0">
              <a:buNone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FHA Sr. Consultant (.35 FTE)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010203"/>
                </a:solidFill>
                <a:latin typeface="+mn-lt"/>
              </a:rPr>
              <a:t>Challenges</a:t>
            </a:r>
          </a:p>
          <a:p>
            <a:pPr marL="457189" lvl="1" indent="0">
              <a:buNone/>
            </a:pPr>
            <a:r>
              <a:rPr lang="en-US" sz="1300" dirty="0">
                <a:solidFill>
                  <a:srgbClr val="010203"/>
                </a:solidFill>
                <a:latin typeface="+mn-lt"/>
              </a:rPr>
              <a:t>Tutorials will require periodic updates after the period of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defTabSz="457189">
              <a:defRPr/>
            </a:pPr>
            <a:fld id="{F8059506-D6B1-B842-AAB5-13291BE98BD7}" type="slidenum">
              <a:rPr lang="en-US">
                <a:solidFill>
                  <a:prstClr val="white"/>
                </a:solidFill>
                <a:latin typeface="Arial"/>
              </a:rPr>
              <a:pPr defTabSz="457189">
                <a:defRPr/>
              </a:pPr>
              <a:t>9</a:t>
            </a:fld>
            <a:endParaRPr lang="en-US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7894" y="220693"/>
            <a:ext cx="6746021" cy="677895"/>
          </a:xfrm>
        </p:spPr>
        <p:txBody>
          <a:bodyPr>
            <a:normAutofit fontScale="90000"/>
          </a:bodyPr>
          <a:lstStyle/>
          <a:p>
            <a:r>
              <a:rPr lang="en-US" dirty="0"/>
              <a:t>NIEM Harmonization To Health Standards Overview</a:t>
            </a:r>
          </a:p>
        </p:txBody>
      </p:sp>
    </p:spTree>
    <p:extLst>
      <p:ext uri="{BB962C8B-B14F-4D97-AF65-F5344CB8AC3E}">
        <p14:creationId xmlns:p14="http://schemas.microsoft.com/office/powerpoint/2010/main" val="92255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5980" y="1177643"/>
            <a:ext cx="8686800" cy="3578772"/>
          </a:xfrm>
        </p:spPr>
        <p:txBody>
          <a:bodyPr/>
          <a:lstStyle/>
          <a:p>
            <a:r>
              <a:rPr lang="en-US" sz="2000" b="1" dirty="0"/>
              <a:t>Create </a:t>
            </a:r>
            <a:r>
              <a:rPr lang="en-US" sz="2000" dirty="0"/>
              <a:t>online tutorials that </a:t>
            </a:r>
            <a:r>
              <a:rPr lang="en-US" sz="2000" b="1" dirty="0" smtClean="0"/>
              <a:t>enable</a:t>
            </a:r>
            <a:r>
              <a:rPr lang="en-US" sz="2000" dirty="0" smtClean="0"/>
              <a:t> </a:t>
            </a:r>
            <a:r>
              <a:rPr lang="en-US" sz="2000" dirty="0"/>
              <a:t>other domains to exchange clinical health information as needed through education and support</a:t>
            </a:r>
          </a:p>
          <a:p>
            <a:r>
              <a:rPr lang="en-US" sz="2000" b="1" dirty="0"/>
              <a:t>Educate</a:t>
            </a:r>
            <a:r>
              <a:rPr lang="en-US" sz="2000" dirty="0"/>
              <a:t> the NIEM Community on how to best access clinical health elements, value sets, and codes</a:t>
            </a:r>
          </a:p>
          <a:p>
            <a:pPr marL="342880" indent="-342891">
              <a:buFont typeface="Arial" panose="020B0604020202020204" pitchFamily="34" charset="0"/>
              <a:buChar char="•"/>
            </a:pPr>
            <a:r>
              <a:rPr lang="en-US" sz="1800" dirty="0"/>
              <a:t>Health IT Community aren’t adopting NIEM as entrenched in HL7 standards and terminologies such as SNOMED-CT, </a:t>
            </a:r>
            <a:r>
              <a:rPr lang="en-US" sz="1800" dirty="0" err="1"/>
              <a:t>RxNorm</a:t>
            </a:r>
            <a:r>
              <a:rPr lang="en-US" sz="1800" dirty="0"/>
              <a:t>, and LOINC</a:t>
            </a:r>
          </a:p>
          <a:p>
            <a:pPr marL="342880" indent="-342891">
              <a:buFont typeface="Arial" panose="020B0604020202020204" pitchFamily="34" charset="0"/>
              <a:buChar char="•"/>
            </a:pPr>
            <a:r>
              <a:rPr lang="en-US" sz="1800" dirty="0"/>
              <a:t>NIEM is well established in non-clinical areas and will not adopt HL7 standards</a:t>
            </a:r>
          </a:p>
          <a:p>
            <a:pPr marL="342880" indent="-342891">
              <a:buFont typeface="Arial" panose="020B0604020202020204" pitchFamily="34" charset="0"/>
              <a:buChar char="•"/>
            </a:pPr>
            <a:r>
              <a:rPr lang="en-US" sz="1800" dirty="0"/>
              <a:t>Replicating the entirety of the FHIM and VSAC terminologies into NIEM is unsustainable</a:t>
            </a:r>
          </a:p>
          <a:p>
            <a:r>
              <a:rPr lang="en-US" sz="2000" b="1" dirty="0"/>
              <a:t>Support </a:t>
            </a:r>
            <a:r>
              <a:rPr lang="en-US" sz="2000" dirty="0"/>
              <a:t>and develop IEPD for common Use Cases</a:t>
            </a:r>
          </a:p>
          <a:p>
            <a:pPr>
              <a:spcAft>
                <a:spcPts val="800"/>
              </a:spcAft>
            </a:pPr>
            <a:r>
              <a:rPr lang="en-US" sz="2000" dirty="0"/>
              <a:t>Develop</a:t>
            </a:r>
            <a:r>
              <a:rPr lang="en-US" sz="2000" b="1" dirty="0"/>
              <a:t> documentation</a:t>
            </a:r>
            <a:r>
              <a:rPr lang="en-US" sz="2000" dirty="0"/>
              <a:t> that resides on NIEM.gov</a:t>
            </a:r>
          </a:p>
          <a:p>
            <a:pPr>
              <a:spcAft>
                <a:spcPts val="800"/>
              </a:spcAft>
            </a:pPr>
            <a:endParaRPr lang="en-US" sz="2000" dirty="0"/>
          </a:p>
          <a:p>
            <a:pPr algn="ctr"/>
            <a:r>
              <a:rPr lang="en-US" sz="2000" dirty="0"/>
              <a:t>This approach </a:t>
            </a:r>
            <a:r>
              <a:rPr lang="en-US" sz="2000" b="1" dirty="0"/>
              <a:t>satisfies </a:t>
            </a:r>
            <a:r>
              <a:rPr lang="en-US" sz="2000" dirty="0"/>
              <a:t>all of FHA’s responsibilities established in the Domain Steward Agreement (SDA) in an efficient manner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833F-4A84-E342-A425-ACDB98154BBD}" type="datetime4">
              <a:rPr lang="en-US" smtClean="0"/>
              <a:t>August 8, 2017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Practical Solution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8059506-D6B1-B842-AAB5-13291BE98BD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2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Update: CONNECT -  PDMP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Jason Smith, CONNECT Development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0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34552"/>
            <a:ext cx="8229600" cy="456661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Presented Prescription Drug Monitoring Program (PDMP) pilot as part of current scope to CONNECT CCB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 MAY Managing Board Meeting – Approved to move forward from pilot to production ready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Request</a:t>
            </a:r>
            <a:r>
              <a:rPr lang="en-US" dirty="0"/>
              <a:t>: Need agency contacts to establish PDMP requirements team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Team to elicit agency use case and integration needs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Team to advise on acceptable message standards, security framework, and client </a:t>
            </a:r>
            <a:r>
              <a:rPr lang="en-US" dirty="0" smtClean="0"/>
              <a:t>processing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Prescription Drug Pilot</a:t>
            </a:r>
          </a:p>
        </p:txBody>
      </p:sp>
    </p:spTree>
    <p:extLst>
      <p:ext uri="{BB962C8B-B14F-4D97-AF65-F5344CB8AC3E}">
        <p14:creationId xmlns:p14="http://schemas.microsoft.com/office/powerpoint/2010/main" val="147381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/>
              <a:t>UPDATE: FHIM Current Status and Transition Planning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Steve Wagner, FHA</a:t>
            </a:r>
          </a:p>
          <a:p>
            <a:r>
              <a:rPr lang="en-US" dirty="0"/>
              <a:t>Galen Mulrooney, FHA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81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4"/>
            <a:ext cx="8229600" cy="4566623"/>
          </a:xfrm>
          <a:prstGeom prst="rect">
            <a:avLst/>
          </a:prstGeom>
        </p:spPr>
        <p:txBody>
          <a:bodyPr/>
          <a:lstStyle/>
          <a:p>
            <a:pPr defTabSz="443483">
              <a:lnSpc>
                <a:spcPct val="120000"/>
              </a:lnSpc>
              <a:spcBef>
                <a:spcPts val="200"/>
              </a:spcBef>
              <a:defRPr sz="2300"/>
            </a:pPr>
            <a:r>
              <a:t>FHIM is focusing on: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t>Harmonization with other initiatives (CIMI, SOLOR, CQI, FHIR, etc.) by co-leading and participating in the HL7 IIM&amp;T initiative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t>Achieving semantic interoperability in order to achieve full health information interoperability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t>Pilot testing to “make it real”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t>Transition planning</a:t>
            </a:r>
          </a:p>
        </p:txBody>
      </p:sp>
      <p:sp>
        <p:nvSpPr>
          <p:cNvPr id="649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78863" y="87747"/>
            <a:ext cx="174768" cy="22698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650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t>Bottom Line Up Front</a:t>
            </a:r>
          </a:p>
        </p:txBody>
      </p:sp>
    </p:spTree>
    <p:extLst>
      <p:ext uri="{BB962C8B-B14F-4D97-AF65-F5344CB8AC3E}">
        <p14:creationId xmlns:p14="http://schemas.microsoft.com/office/powerpoint/2010/main" val="1341011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4"/>
            <a:ext cx="8229600" cy="4566623"/>
          </a:xfrm>
          <a:prstGeom prst="rect">
            <a:avLst/>
          </a:prstGeom>
        </p:spPr>
        <p:txBody>
          <a:bodyPr/>
          <a:lstStyle/>
          <a:p>
            <a:pPr defTabSz="443483">
              <a:lnSpc>
                <a:spcPct val="120000"/>
              </a:lnSpc>
              <a:spcBef>
                <a:spcPts val="200"/>
              </a:spcBef>
              <a:defRPr sz="2300"/>
            </a:pPr>
            <a:r>
              <a:rPr dirty="0"/>
              <a:t>FHIM has undertaken a major re-factoring to harmonize with CIMI. This has taken place in three phases: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rPr dirty="0"/>
              <a:t>Change the Clinical Information/Provenance structure from which all clinical models inherit to reflect the CIMI Clinical Statement model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rPr dirty="0"/>
              <a:t>Change all clinical classes to utilize the inherited provenance/“attribution”</a:t>
            </a:r>
          </a:p>
          <a:p>
            <a:pPr marL="332613" indent="-332613" defTabSz="443483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300"/>
            </a:pPr>
            <a:r>
              <a:rPr dirty="0"/>
              <a:t>Change all clinical classes to use the CIMI “Topic/Context” pattern, which separates the clinical meaning of the concept being modeled from the context in which it is used</a:t>
            </a:r>
          </a:p>
        </p:txBody>
      </p:sp>
      <p:sp>
        <p:nvSpPr>
          <p:cNvPr id="655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78863" y="87747"/>
            <a:ext cx="174768" cy="22698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656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t>FHIM/CIMI Harmonization</a:t>
            </a:r>
          </a:p>
        </p:txBody>
      </p:sp>
    </p:spTree>
    <p:extLst>
      <p:ext uri="{BB962C8B-B14F-4D97-AF65-F5344CB8AC3E}">
        <p14:creationId xmlns:p14="http://schemas.microsoft.com/office/powerpoint/2010/main" val="1236798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4"/>
            <a:ext cx="8229600" cy="4566623"/>
          </a:xfrm>
          <a:prstGeom prst="rect">
            <a:avLst/>
          </a:prstGeom>
        </p:spPr>
        <p:txBody>
          <a:bodyPr/>
          <a:lstStyle/>
          <a:p>
            <a:pPr marL="322325" indent="-322325" defTabSz="42976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256"/>
            </a:pPr>
            <a:r>
              <a:rPr lang="en-US" dirty="0"/>
              <a:t>Phase 1 and 2 are </a:t>
            </a:r>
            <a:r>
              <a:rPr dirty="0"/>
              <a:t>complete </a:t>
            </a:r>
            <a:endParaRPr lang="en-US" dirty="0"/>
          </a:p>
          <a:p>
            <a:pPr marL="322325" indent="-322325" defTabSz="42976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256"/>
            </a:pPr>
            <a:r>
              <a:rPr lang="en-US" dirty="0"/>
              <a:t>Phase 3 will be completed in </a:t>
            </a:r>
            <a:r>
              <a:rPr dirty="0"/>
              <a:t> September</a:t>
            </a:r>
          </a:p>
          <a:p>
            <a:pPr marL="322325" indent="-322325" defTabSz="42976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256"/>
            </a:pPr>
            <a:r>
              <a:rPr dirty="0"/>
              <a:t>Further minor refinement is likely as we harmonize FHIM and the CIMI Reference Model as closely as possible</a:t>
            </a:r>
          </a:p>
          <a:p>
            <a:pPr marL="322325" indent="-322325" defTabSz="42976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256"/>
            </a:pPr>
            <a:r>
              <a:rPr dirty="0"/>
              <a:t>The new CIMI patterns make the FHIM binding to terminology more straightforward</a:t>
            </a:r>
            <a:endParaRPr lang="en-US" dirty="0"/>
          </a:p>
          <a:p>
            <a:pPr marL="322325" indent="-322325" defTabSz="42976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256"/>
            </a:pPr>
            <a:r>
              <a:rPr dirty="0" smtClean="0"/>
              <a:t>We </a:t>
            </a:r>
            <a:r>
              <a:rPr dirty="0"/>
              <a:t>are testing the FHIM/CIMI alignment by comparing the FHIM structures to the corresponding CIMI structures across several information domains</a:t>
            </a:r>
          </a:p>
        </p:txBody>
      </p:sp>
      <p:sp>
        <p:nvSpPr>
          <p:cNvPr id="661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78863" y="87747"/>
            <a:ext cx="174768" cy="22698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662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t>FHIM/CIMI Harmonization</a:t>
            </a:r>
          </a:p>
        </p:txBody>
      </p:sp>
    </p:spTree>
    <p:extLst>
      <p:ext uri="{BB962C8B-B14F-4D97-AF65-F5344CB8AC3E}">
        <p14:creationId xmlns:p14="http://schemas.microsoft.com/office/powerpoint/2010/main" val="397358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283769"/>
            <a:ext cx="8229600" cy="4735738"/>
          </a:xfrm>
          <a:prstGeom prst="rect">
            <a:avLst/>
          </a:prstGeom>
        </p:spPr>
        <p:txBody>
          <a:bodyPr/>
          <a:lstStyle/>
          <a:p>
            <a:pPr marL="305180" indent="-305180" defTabSz="40690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100"/>
            </a:pPr>
            <a:r>
              <a:rPr dirty="0"/>
              <a:t>Working on the tooling necessary to generate the CIMI reference model from the FHIM. </a:t>
            </a:r>
            <a:endParaRPr lang="en-US" dirty="0"/>
          </a:p>
          <a:p>
            <a:pPr marL="762380" lvl="1" indent="-305180" defTabSz="40690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100"/>
            </a:pPr>
            <a:r>
              <a:rPr sz="1800" dirty="0"/>
              <a:t>This involves conversion from UML to a CIMI notation called</a:t>
            </a:r>
            <a:r>
              <a:rPr lang="en-US" sz="1800" dirty="0"/>
              <a:t> </a:t>
            </a:r>
            <a:r>
              <a:rPr lang="en-US" sz="1800" dirty="0" smtClean="0"/>
              <a:t>Basic </a:t>
            </a:r>
            <a:r>
              <a:rPr lang="en-US" sz="1800" dirty="0"/>
              <a:t>Meta-Model (</a:t>
            </a:r>
            <a:r>
              <a:rPr sz="1800" dirty="0"/>
              <a:t>BMM</a:t>
            </a:r>
            <a:r>
              <a:rPr lang="en-US" sz="1800" dirty="0"/>
              <a:t>)</a:t>
            </a:r>
            <a:r>
              <a:rPr sz="1800" dirty="0"/>
              <a:t> and some transformation of </a:t>
            </a:r>
            <a:r>
              <a:rPr sz="1800" dirty="0" smtClean="0"/>
              <a:t>structures</a:t>
            </a:r>
            <a:endParaRPr lang="en-US" sz="1800" dirty="0"/>
          </a:p>
          <a:p>
            <a:pPr marL="762380" lvl="1" indent="-305180" defTabSz="40690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100"/>
            </a:pPr>
            <a:r>
              <a:rPr sz="1800" dirty="0"/>
              <a:t>CIMI will then constrain the BMM</a:t>
            </a:r>
          </a:p>
          <a:p>
            <a:pPr marL="305180" indent="-305180" defTabSz="40690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100"/>
            </a:pPr>
            <a:r>
              <a:rPr dirty="0"/>
              <a:t>There is an open question concerning whether and how the resulting CIMI “Detailed Clinical Models” </a:t>
            </a:r>
            <a:r>
              <a:rPr dirty="0" smtClean="0"/>
              <a:t>(D</a:t>
            </a:r>
            <a:r>
              <a:rPr lang="en-US" dirty="0" smtClean="0"/>
              <a:t>C</a:t>
            </a:r>
            <a:r>
              <a:rPr dirty="0" smtClean="0"/>
              <a:t>M</a:t>
            </a:r>
            <a:r>
              <a:rPr lang="en-US" dirty="0" smtClean="0"/>
              <a:t>s</a:t>
            </a:r>
            <a:r>
              <a:rPr dirty="0" smtClean="0"/>
              <a:t>) </a:t>
            </a:r>
            <a:r>
              <a:rPr dirty="0"/>
              <a:t>are to be imported back into the FHIM</a:t>
            </a:r>
          </a:p>
          <a:p>
            <a:pPr marL="305180" indent="-305180" defTabSz="40690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100"/>
            </a:pPr>
            <a:r>
              <a:rPr lang="en-US" dirty="0"/>
              <a:t>F</a:t>
            </a:r>
            <a:r>
              <a:rPr dirty="0"/>
              <a:t>urther consensus is needed on whether and how existing FHIM -</a:t>
            </a:r>
            <a:r>
              <a:rPr lang="en-US" dirty="0"/>
              <a:t> </a:t>
            </a:r>
            <a:r>
              <a:rPr dirty="0"/>
              <a:t>FHIR tooling would be used to generate FHIR Profiles for CIMI</a:t>
            </a:r>
            <a:endParaRPr lang="en-US" dirty="0"/>
          </a:p>
          <a:p>
            <a:pPr marL="762380" lvl="1" indent="-305180" defTabSz="406908">
              <a:lnSpc>
                <a:spcPct val="120000"/>
              </a:lnSpc>
              <a:spcBef>
                <a:spcPts val="200"/>
              </a:spcBef>
              <a:buSzPct val="100000"/>
              <a:buChar char="•"/>
              <a:defRPr sz="2100"/>
            </a:pPr>
            <a:r>
              <a:rPr sz="1800" dirty="0"/>
              <a:t>Two options: FHIR Profiles generated from FHIM or FHIR Profiles generated from CIMI (which will require </a:t>
            </a:r>
            <a:r>
              <a:rPr lang="en-US" sz="1800" dirty="0"/>
              <a:t>new </a:t>
            </a:r>
            <a:r>
              <a:rPr sz="1800" dirty="0"/>
              <a:t>CIMI tools)</a:t>
            </a:r>
          </a:p>
        </p:txBody>
      </p:sp>
      <p:sp>
        <p:nvSpPr>
          <p:cNvPr id="667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78863" y="87747"/>
            <a:ext cx="174768" cy="22698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668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t>FHIM/CIMI Harmonization</a:t>
            </a:r>
          </a:p>
        </p:txBody>
      </p:sp>
    </p:spTree>
    <p:extLst>
      <p:ext uri="{BB962C8B-B14F-4D97-AF65-F5344CB8AC3E}">
        <p14:creationId xmlns:p14="http://schemas.microsoft.com/office/powerpoint/2010/main" val="4235946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4"/>
            <a:ext cx="8229600" cy="4566623"/>
          </a:xfrm>
          <a:prstGeom prst="rect">
            <a:avLst/>
          </a:prstGeom>
        </p:spPr>
        <p:txBody>
          <a:bodyPr/>
          <a:lstStyle/>
          <a:p>
            <a:pPr marL="306141" indent="-306141" defTabSz="408187">
              <a:lnSpc>
                <a:spcPct val="120000"/>
              </a:lnSpc>
              <a:spcBef>
                <a:spcPts val="100"/>
              </a:spcBef>
              <a:buSzPct val="100000"/>
              <a:buFont typeface="Arial"/>
              <a:buChar char="•"/>
              <a:tabLst>
                <a:tab pos="393700" algn="l"/>
              </a:tabLst>
              <a:defRPr sz="2790"/>
            </a:pPr>
            <a:r>
              <a:rPr dirty="0"/>
              <a:t>CIMI will assert SOLOR terminology bindings</a:t>
            </a:r>
          </a:p>
          <a:p>
            <a:pPr marL="306141" indent="-306141" defTabSz="408187">
              <a:lnSpc>
                <a:spcPct val="120000"/>
              </a:lnSpc>
              <a:spcBef>
                <a:spcPts val="100"/>
              </a:spcBef>
              <a:buSzPct val="100000"/>
              <a:buFont typeface="Arial"/>
              <a:buChar char="•"/>
              <a:tabLst>
                <a:tab pos="393700" algn="l"/>
              </a:tabLst>
              <a:defRPr sz="2790"/>
            </a:pPr>
            <a:r>
              <a:rPr dirty="0"/>
              <a:t>FHIM will leverage references to the following existing supported formalisms and their respective bindings (descending order of maturity)</a:t>
            </a:r>
            <a:r>
              <a:rPr lang="en-US" dirty="0"/>
              <a:t>:</a:t>
            </a:r>
            <a:endParaRPr dirty="0"/>
          </a:p>
          <a:p>
            <a:pPr marL="816375" lvl="5" indent="-306141" defTabSz="408187">
              <a:lnSpc>
                <a:spcPct val="120000"/>
              </a:lnSpc>
              <a:spcBef>
                <a:spcPts val="100"/>
              </a:spcBef>
              <a:buFont typeface="Arial"/>
              <a:tabLst>
                <a:tab pos="393700" algn="l"/>
              </a:tabLst>
              <a:defRPr sz="2790"/>
            </a:pPr>
            <a:r>
              <a:rPr sz="2400" dirty="0">
                <a:solidFill>
                  <a:srgbClr val="000000"/>
                </a:solidFill>
              </a:rPr>
              <a:t>VSAC for C-CDA</a:t>
            </a:r>
          </a:p>
          <a:p>
            <a:pPr marL="816375" lvl="5" indent="-306141" defTabSz="408187">
              <a:lnSpc>
                <a:spcPct val="120000"/>
              </a:lnSpc>
              <a:spcBef>
                <a:spcPts val="100"/>
              </a:spcBef>
              <a:buFont typeface="Arial"/>
              <a:tabLst>
                <a:tab pos="393700" algn="l"/>
              </a:tabLst>
              <a:defRPr sz="2790"/>
            </a:pPr>
            <a:r>
              <a:rPr sz="2400" dirty="0">
                <a:solidFill>
                  <a:srgbClr val="000000"/>
                </a:solidFill>
              </a:rPr>
              <a:t>FHIR for FHIR</a:t>
            </a:r>
          </a:p>
          <a:p>
            <a:pPr marL="816375" lvl="5" indent="-306141" defTabSz="408187">
              <a:lnSpc>
                <a:spcPct val="120000"/>
              </a:lnSpc>
              <a:spcBef>
                <a:spcPts val="100"/>
              </a:spcBef>
              <a:buFont typeface="Arial"/>
              <a:tabLst>
                <a:tab pos="393700" algn="l"/>
              </a:tabLst>
              <a:defRPr sz="2790"/>
            </a:pPr>
            <a:r>
              <a:rPr sz="2400" dirty="0">
                <a:solidFill>
                  <a:srgbClr val="000000"/>
                </a:solidFill>
              </a:rPr>
              <a:t>SOLOR for CIMI</a:t>
            </a:r>
          </a:p>
          <a:p>
            <a:pPr marL="816375" lvl="5" indent="-306141" defTabSz="408187">
              <a:lnSpc>
                <a:spcPct val="120000"/>
              </a:lnSpc>
              <a:spcBef>
                <a:spcPts val="100"/>
              </a:spcBef>
              <a:buFont typeface="Arial"/>
              <a:tabLst>
                <a:tab pos="393700" algn="l"/>
              </a:tabLst>
              <a:defRPr sz="2790"/>
            </a:pPr>
            <a:r>
              <a:rPr sz="2400" dirty="0">
                <a:solidFill>
                  <a:srgbClr val="000000"/>
                </a:solidFill>
              </a:rPr>
              <a:t>Others</a:t>
            </a:r>
          </a:p>
        </p:txBody>
      </p:sp>
      <p:sp>
        <p:nvSpPr>
          <p:cNvPr id="673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78863" y="87747"/>
            <a:ext cx="174768" cy="22698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674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t>FHIM/SOLOR Harmonization</a:t>
            </a:r>
          </a:p>
        </p:txBody>
      </p:sp>
    </p:spTree>
    <p:extLst>
      <p:ext uri="{BB962C8B-B14F-4D97-AF65-F5344CB8AC3E}">
        <p14:creationId xmlns:p14="http://schemas.microsoft.com/office/powerpoint/2010/main" val="11416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4"/>
            <a:ext cx="8229600" cy="4566623"/>
          </a:xfrm>
          <a:prstGeom prst="rect">
            <a:avLst/>
          </a:prstGeom>
        </p:spPr>
        <p:txBody>
          <a:bodyPr/>
          <a:lstStyle/>
          <a:p>
            <a:pPr marL="288035" indent="-288035" defTabSz="384047">
              <a:lnSpc>
                <a:spcPct val="120000"/>
              </a:lnSpc>
              <a:spcBef>
                <a:spcPts val="200"/>
              </a:spcBef>
              <a:buSzPct val="100000"/>
              <a:buFont typeface="Arial"/>
              <a:buChar char="•"/>
              <a:tabLst>
                <a:tab pos="381000" algn="l"/>
              </a:tabLst>
              <a:defRPr sz="2600"/>
            </a:pPr>
            <a:r>
              <a:rPr dirty="0"/>
              <a:t>SOLOR is preparing an October release</a:t>
            </a:r>
          </a:p>
          <a:p>
            <a:pPr marL="768094" lvl="5" indent="-288035" defTabSz="384047">
              <a:lnSpc>
                <a:spcPct val="120000"/>
              </a:lnSpc>
              <a:spcBef>
                <a:spcPts val="200"/>
              </a:spcBef>
              <a:buFont typeface="Arial"/>
              <a:tabLst>
                <a:tab pos="381000" algn="l"/>
              </a:tabLst>
              <a:defRPr sz="2600"/>
            </a:pPr>
            <a:r>
              <a:rPr sz="2400" dirty="0">
                <a:solidFill>
                  <a:srgbClr val="000000"/>
                </a:solidFill>
              </a:rPr>
              <a:t>Representing SNOMED CT, LOINC, </a:t>
            </a:r>
            <a:r>
              <a:rPr sz="2400" dirty="0" err="1">
                <a:solidFill>
                  <a:srgbClr val="000000"/>
                </a:solidFill>
              </a:rPr>
              <a:t>RxNorm</a:t>
            </a:r>
            <a:endParaRPr sz="2400" dirty="0">
              <a:solidFill>
                <a:srgbClr val="000000"/>
              </a:solidFill>
            </a:endParaRPr>
          </a:p>
          <a:p>
            <a:pPr marL="768094" lvl="5" indent="-288035" defTabSz="384047">
              <a:lnSpc>
                <a:spcPct val="120000"/>
              </a:lnSpc>
              <a:spcBef>
                <a:spcPts val="200"/>
              </a:spcBef>
              <a:buFont typeface="Arial"/>
              <a:tabLst>
                <a:tab pos="381000" algn="l"/>
              </a:tabLst>
              <a:defRPr sz="2600"/>
            </a:pPr>
            <a:r>
              <a:rPr sz="2400" dirty="0">
                <a:solidFill>
                  <a:srgbClr val="000000"/>
                </a:solidFill>
              </a:rPr>
              <a:t>Asserting relationships among existing values</a:t>
            </a:r>
          </a:p>
          <a:p>
            <a:pPr marL="288035" lvl="2" indent="-288035" defTabSz="384047">
              <a:lnSpc>
                <a:spcPct val="120000"/>
              </a:lnSpc>
              <a:spcBef>
                <a:spcPts val="200"/>
              </a:spcBef>
              <a:buSzPct val="100000"/>
              <a:buFont typeface="Arial"/>
              <a:buChar char="•"/>
              <a:tabLst>
                <a:tab pos="381000" algn="l"/>
              </a:tabLst>
              <a:defRPr sz="2600"/>
            </a:pPr>
            <a:endParaRPr lang="en-US" dirty="0"/>
          </a:p>
          <a:p>
            <a:pPr marL="288035" lvl="2" indent="-288035" defTabSz="384047">
              <a:lnSpc>
                <a:spcPct val="120000"/>
              </a:lnSpc>
              <a:spcBef>
                <a:spcPts val="200"/>
              </a:spcBef>
              <a:buSzPct val="100000"/>
              <a:buFont typeface="Arial"/>
              <a:buChar char="•"/>
              <a:tabLst>
                <a:tab pos="381000" algn="l"/>
              </a:tabLst>
              <a:defRPr sz="2600"/>
            </a:pPr>
            <a:r>
              <a:rPr dirty="0"/>
              <a:t>This release will also support initial CIMI values for:</a:t>
            </a:r>
          </a:p>
          <a:p>
            <a:pPr marL="745235" lvl="5" indent="-288035" defTabSz="384047">
              <a:lnSpc>
                <a:spcPct val="120000"/>
              </a:lnSpc>
              <a:spcBef>
                <a:spcPts val="200"/>
              </a:spcBef>
              <a:buFont typeface="Arial"/>
              <a:tabLst>
                <a:tab pos="381000" algn="l"/>
              </a:tabLst>
              <a:defRPr sz="2600"/>
            </a:pPr>
            <a:r>
              <a:rPr sz="2400" dirty="0">
                <a:solidFill>
                  <a:srgbClr val="000000"/>
                </a:solidFill>
              </a:rPr>
              <a:t>Skin &amp; Wound model</a:t>
            </a:r>
          </a:p>
          <a:p>
            <a:pPr marL="1151635" lvl="6" indent="-288035" defTabSz="384047">
              <a:lnSpc>
                <a:spcPct val="120000"/>
              </a:lnSpc>
              <a:spcBef>
                <a:spcPts val="200"/>
              </a:spcBef>
              <a:buFont typeface="Arial"/>
              <a:tabLst>
                <a:tab pos="381000" algn="l"/>
              </a:tabLst>
              <a:defRPr sz="2600"/>
            </a:pPr>
            <a:r>
              <a:rPr sz="1800" dirty="0">
                <a:solidFill>
                  <a:srgbClr val="000000"/>
                </a:solidFill>
              </a:rPr>
              <a:t>Question bindings (LOINC)</a:t>
            </a:r>
          </a:p>
          <a:p>
            <a:pPr marL="1151635" lvl="6" indent="-288035" defTabSz="384047">
              <a:lnSpc>
                <a:spcPct val="120000"/>
              </a:lnSpc>
              <a:spcBef>
                <a:spcPts val="200"/>
              </a:spcBef>
              <a:buFont typeface="Arial"/>
              <a:tabLst>
                <a:tab pos="381000" algn="l"/>
              </a:tabLst>
              <a:defRPr sz="2600"/>
            </a:pPr>
            <a:r>
              <a:rPr sz="1800" dirty="0">
                <a:solidFill>
                  <a:srgbClr val="000000"/>
                </a:solidFill>
              </a:rPr>
              <a:t>Answer values (SNOMED CT concepts) and SNOMED CT value sets</a:t>
            </a:r>
          </a:p>
        </p:txBody>
      </p:sp>
      <p:sp>
        <p:nvSpPr>
          <p:cNvPr id="677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78863" y="87747"/>
            <a:ext cx="174768" cy="22698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678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t>FHIM/SOLOR Harmonization</a:t>
            </a:r>
          </a:p>
        </p:txBody>
      </p:sp>
    </p:spTree>
    <p:extLst>
      <p:ext uri="{BB962C8B-B14F-4D97-AF65-F5344CB8AC3E}">
        <p14:creationId xmlns:p14="http://schemas.microsoft.com/office/powerpoint/2010/main" val="1331793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3"/>
            <a:ext cx="8229600" cy="4735738"/>
          </a:xfrm>
          <a:prstGeom prst="rect">
            <a:avLst/>
          </a:prstGeom>
        </p:spPr>
        <p:txBody>
          <a:bodyPr/>
          <a:lstStyle/>
          <a:p>
            <a:pPr marL="336041" indent="-336041" defTabSz="448055">
              <a:lnSpc>
                <a:spcPct val="120000"/>
              </a:lnSpc>
              <a:spcBef>
                <a:spcPts val="200"/>
              </a:spcBef>
              <a:buSzPct val="100000"/>
              <a:buChar char="•"/>
              <a:tabLst>
                <a:tab pos="444500" algn="l"/>
              </a:tabLst>
              <a:defRPr sz="2300"/>
            </a:pPr>
            <a:r>
              <a:t>The FHIM information model is being aligned with and mapped to FHIR STU 3</a:t>
            </a:r>
          </a:p>
          <a:p>
            <a:pPr marL="336041" indent="-336041" defTabSz="448055">
              <a:lnSpc>
                <a:spcPct val="120000"/>
              </a:lnSpc>
              <a:spcBef>
                <a:spcPts val="200"/>
              </a:spcBef>
              <a:buSzPct val="100000"/>
              <a:buChar char="•"/>
              <a:tabLst>
                <a:tab pos="444500" algn="l"/>
              </a:tabLst>
              <a:defRPr sz="2300"/>
            </a:pPr>
            <a:r>
              <a:t>As of June 30</a:t>
            </a:r>
            <a:r>
              <a:rPr baseline="30129"/>
              <a:t>th</a:t>
            </a:r>
            <a:r>
              <a:t>, we have aligned and mapped 442 concepts to the FHIM in 32 out of the 95 non-infrastructure FHIR Resources</a:t>
            </a:r>
          </a:p>
          <a:p>
            <a:pPr marL="793241" indent="-336041" defTabSz="448055">
              <a:lnSpc>
                <a:spcPct val="120000"/>
              </a:lnSpc>
              <a:spcBef>
                <a:spcPts val="200"/>
              </a:spcBef>
              <a:buSzPct val="100000"/>
              <a:buChar char="•"/>
              <a:tabLst>
                <a:tab pos="444500" algn="l"/>
              </a:tabLst>
              <a:defRPr sz="2300"/>
            </a:pPr>
            <a:r>
              <a:t>We have included the FHIR definitions in the FHIM definitions</a:t>
            </a:r>
          </a:p>
          <a:p>
            <a:pPr marL="336041" indent="-336041" defTabSz="448055">
              <a:lnSpc>
                <a:spcPct val="120000"/>
              </a:lnSpc>
              <a:spcBef>
                <a:spcPts val="200"/>
              </a:spcBef>
              <a:buSzPct val="100000"/>
              <a:buChar char="•"/>
              <a:tabLst>
                <a:tab pos="444500" algn="l"/>
              </a:tabLst>
              <a:defRPr sz="2300"/>
            </a:pPr>
            <a:r>
              <a:t>Completion of mapping all FHIR Resources is expected by September 30</a:t>
            </a:r>
            <a:r>
              <a:rPr baseline="30129"/>
              <a:t>th</a:t>
            </a:r>
            <a:r>
              <a:t> </a:t>
            </a:r>
          </a:p>
        </p:txBody>
      </p:sp>
      <p:sp>
        <p:nvSpPr>
          <p:cNvPr id="689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43549" y="87747"/>
            <a:ext cx="245399" cy="22698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69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FHIM Support for FHIR Activities</a:t>
            </a:r>
          </a:p>
        </p:txBody>
      </p:sp>
    </p:spTree>
    <p:extLst>
      <p:ext uri="{BB962C8B-B14F-4D97-AF65-F5344CB8AC3E}">
        <p14:creationId xmlns:p14="http://schemas.microsoft.com/office/powerpoint/2010/main" val="4100926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475494"/>
            <a:ext cx="8229600" cy="4566623"/>
          </a:xfrm>
          <a:prstGeom prst="rect">
            <a:avLst/>
          </a:prstGeom>
        </p:spPr>
        <p:txBody>
          <a:bodyPr/>
          <a:lstStyle/>
          <a:p>
            <a:pPr marL="259079" indent="-259079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FHIR DSTU2 Support</a:t>
            </a:r>
          </a:p>
          <a:p>
            <a:pPr marL="538886" indent="-279806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Able to generate FHIR Profiles from FHIM utilizing SIGG</a:t>
            </a:r>
          </a:p>
          <a:p>
            <a:pPr marL="259079" indent="-259079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FHIR Terminology</a:t>
            </a:r>
          </a:p>
          <a:p>
            <a:pPr marL="538886" indent="-279806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Updating FHIM methodology to leverage FHIR Uniform Resource Identifiers (URIs) and Terminology Services</a:t>
            </a:r>
          </a:p>
          <a:p>
            <a:pPr marL="259079" indent="-259079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FHIR STU3 Support</a:t>
            </a:r>
          </a:p>
          <a:p>
            <a:pPr marL="538886" indent="-279806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Extending Semantic Interoperability Guide Generator (SIGG) software to generate STU3 Profiles using the combination of FHIM and CIMI</a:t>
            </a:r>
          </a:p>
          <a:p>
            <a:pPr marL="797966" lvl="2" indent="-279806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Generate FHIR profile based on FHIM/CIMI model for Nutrition Assessment</a:t>
            </a:r>
          </a:p>
          <a:p>
            <a:pPr marL="797966" indent="-279806" defTabSz="373075">
              <a:lnSpc>
                <a:spcPct val="120000"/>
              </a:lnSpc>
              <a:spcBef>
                <a:spcPts val="100"/>
              </a:spcBef>
              <a:buClr>
                <a:srgbClr val="000000"/>
              </a:buClr>
              <a:buSzPct val="100000"/>
              <a:buChar char="•"/>
              <a:tabLst>
                <a:tab pos="355600" algn="l"/>
              </a:tabLst>
              <a:defRPr sz="1919"/>
            </a:pPr>
            <a:r>
              <a:t>Generate FHIR Profile based on FHIM/CIMI representation of HL7 Skin Assessment Ballot</a:t>
            </a:r>
          </a:p>
        </p:txBody>
      </p:sp>
      <p:sp>
        <p:nvSpPr>
          <p:cNvPr id="693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48262" y="87749"/>
            <a:ext cx="235974" cy="22698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694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84047">
              <a:defRPr sz="2600"/>
            </a:lvl1pPr>
          </a:lstStyle>
          <a:p>
            <a:r>
              <a:rPr dirty="0"/>
              <a:t>FHIM Tooling Support for FHIR Activities</a:t>
            </a:r>
          </a:p>
        </p:txBody>
      </p:sp>
    </p:spTree>
    <p:extLst>
      <p:ext uri="{BB962C8B-B14F-4D97-AF65-F5344CB8AC3E}">
        <p14:creationId xmlns:p14="http://schemas.microsoft.com/office/powerpoint/2010/main" val="3025833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457200" y="1372258"/>
            <a:ext cx="8229600" cy="4566623"/>
          </a:xfrm>
          <a:prstGeom prst="rect">
            <a:avLst/>
          </a:prstGeom>
        </p:spPr>
        <p:txBody>
          <a:bodyPr/>
          <a:lstStyle/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r>
              <a:rPr dirty="0"/>
              <a:t>Discussed transition planning options at FHIM Strategy meeting in June</a:t>
            </a:r>
          </a:p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endParaRPr dirty="0"/>
          </a:p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r>
              <a:rPr dirty="0"/>
              <a:t>Identified an initial list of 8 possible transition options</a:t>
            </a:r>
          </a:p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endParaRPr dirty="0"/>
          </a:p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r>
              <a:rPr dirty="0"/>
              <a:t>Currently analyzing and comparing options</a:t>
            </a:r>
          </a:p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endParaRPr dirty="0"/>
          </a:p>
          <a:p>
            <a:pPr marL="256111" indent="-256111" defTabSz="341481">
              <a:spcBef>
                <a:spcPts val="100"/>
              </a:spcBef>
              <a:buSzPct val="100000"/>
              <a:buChar char="•"/>
              <a:defRPr sz="2328"/>
            </a:pPr>
            <a:r>
              <a:rPr dirty="0"/>
              <a:t>Plan to identify top three options by end of CY 2017, choose best option by March 2018 and begin transition planning</a:t>
            </a:r>
          </a:p>
        </p:txBody>
      </p:sp>
      <p:sp>
        <p:nvSpPr>
          <p:cNvPr id="706" name="Slide Number Placeholder 2"/>
          <p:cNvSpPr txBox="1">
            <a:spLocks noGrp="1"/>
          </p:cNvSpPr>
          <p:nvPr>
            <p:ph type="sldNum" sz="quarter" idx="4294967295"/>
          </p:nvPr>
        </p:nvSpPr>
        <p:spPr>
          <a:xfrm>
            <a:off x="8443548" y="87747"/>
            <a:ext cx="245399" cy="22698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707" name="Title 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396715" cy="677896"/>
          </a:xfrm>
          <a:prstGeom prst="rect">
            <a:avLst/>
          </a:prstGeom>
        </p:spPr>
        <p:txBody>
          <a:bodyPr/>
          <a:lstStyle/>
          <a:p>
            <a:r>
              <a:rPr dirty="0"/>
              <a:t>FHIM Transition Planning</a:t>
            </a:r>
          </a:p>
        </p:txBody>
      </p:sp>
    </p:spTree>
    <p:extLst>
      <p:ext uri="{BB962C8B-B14F-4D97-AF65-F5344CB8AC3E}">
        <p14:creationId xmlns:p14="http://schemas.microsoft.com/office/powerpoint/2010/main" val="3490649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085769"/>
            <a:ext cx="7772400" cy="136207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 smtClean="0"/>
              <a:t>Management </a:t>
            </a:r>
            <a:r>
              <a:rPr lang="en-US" dirty="0"/>
              <a:t>of Gender </a:t>
            </a:r>
            <a:r>
              <a:rPr lang="en-US" dirty="0" smtClean="0"/>
              <a:t>Data and </a:t>
            </a:r>
            <a:r>
              <a:rPr lang="en-US" dirty="0"/>
              <a:t>Security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447844"/>
            <a:ext cx="7772400" cy="1500187"/>
          </a:xfrm>
        </p:spPr>
        <p:txBody>
          <a:bodyPr/>
          <a:lstStyle/>
          <a:p>
            <a:r>
              <a:rPr lang="en-US" dirty="0" smtClean="0"/>
              <a:t>Open Discussion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0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1917" y="3815909"/>
            <a:ext cx="8727187" cy="2236183"/>
          </a:xfrm>
        </p:spPr>
        <p:txBody>
          <a:bodyPr numCol="3"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sz="1600" b="1" dirty="0" smtClean="0">
                <a:solidFill>
                  <a:srgbClr val="0070C0"/>
                </a:solidFill>
              </a:rPr>
              <a:t>One possible approach:</a:t>
            </a:r>
          </a:p>
          <a:p>
            <a:pPr marL="342900" indent="-342900">
              <a:buFontTx/>
              <a:buChar char="-"/>
            </a:pPr>
            <a:r>
              <a:rPr lang="en-US" sz="1600" b="1" dirty="0" smtClean="0">
                <a:solidFill>
                  <a:srgbClr val="0070C0"/>
                </a:solidFill>
              </a:rPr>
              <a:t>Gender (DNA)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Male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Female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Unknown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Other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Ambiguous</a:t>
            </a:r>
          </a:p>
          <a:p>
            <a:pPr marL="800100" lvl="1" indent="-342900">
              <a:buFontTx/>
              <a:buChar char="-"/>
            </a:pPr>
            <a:endParaRPr lang="en-US" sz="1600" dirty="0">
              <a:solidFill>
                <a:srgbClr val="0070C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1600" b="1" dirty="0" smtClean="0">
                <a:solidFill>
                  <a:srgbClr val="0070C0"/>
                </a:solidFill>
              </a:rPr>
              <a:t>Administrative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Male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Female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Unknown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Other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Ambiguous</a:t>
            </a:r>
          </a:p>
          <a:p>
            <a:pPr marL="800100" lvl="1" indent="-342900">
              <a:buFontTx/>
              <a:buChar char="-"/>
            </a:pPr>
            <a:endParaRPr lang="en-US" sz="1600" dirty="0" smtClean="0">
              <a:solidFill>
                <a:srgbClr val="0070C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1600" b="1" dirty="0" smtClean="0">
                <a:solidFill>
                  <a:srgbClr val="0070C0"/>
                </a:solidFill>
              </a:rPr>
              <a:t>Identified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Male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Female</a:t>
            </a:r>
          </a:p>
          <a:p>
            <a:pPr marL="800100" lvl="1" indent="-342900">
              <a:buFontTx/>
              <a:buChar char="-"/>
            </a:pPr>
            <a:r>
              <a:rPr lang="en-US" sz="1600" dirty="0" smtClean="0">
                <a:solidFill>
                  <a:srgbClr val="0070C0"/>
                </a:solidFill>
              </a:rPr>
              <a:t>Unknown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Other</a:t>
            </a:r>
          </a:p>
          <a:p>
            <a:pPr marL="800100" lvl="1" indent="-342900">
              <a:buFontTx/>
              <a:buChar char="-"/>
            </a:pPr>
            <a:r>
              <a:rPr lang="en-US" sz="1600" dirty="0">
                <a:solidFill>
                  <a:srgbClr val="0070C0"/>
                </a:solidFill>
              </a:rPr>
              <a:t>A</a:t>
            </a:r>
            <a:r>
              <a:rPr lang="en-US" sz="1600" dirty="0" smtClean="0">
                <a:solidFill>
                  <a:srgbClr val="0070C0"/>
                </a:solidFill>
              </a:rPr>
              <a:t>mbiguous</a:t>
            </a:r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833F-4A84-E342-A425-ACDB98154BBD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dirty="0"/>
              <a:t>Management of Gender Data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8059506-D6B1-B842-AAB5-13291BE98BD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799" y="1372572"/>
            <a:ext cx="833423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How </a:t>
            </a:r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is your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agency handling gender related data?</a:t>
            </a:r>
          </a:p>
          <a:p>
            <a:pPr>
              <a:spcBef>
                <a:spcPts val="1200"/>
              </a:spcBef>
            </a:pPr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Was the Gender Data question already discussed (within or outside the health domain)?</a:t>
            </a:r>
          </a:p>
          <a:p>
            <a:pPr>
              <a:spcBef>
                <a:spcPts val="1200"/>
              </a:spcBef>
            </a:pPr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Is anyone aware of current work being performed in this area?</a:t>
            </a:r>
          </a:p>
          <a:p>
            <a:pPr>
              <a:spcBef>
                <a:spcPts val="1200"/>
              </a:spcBef>
            </a:pPr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What role should the federal government have on this topic? What should it be part of (NIEM/FHIM)?</a:t>
            </a:r>
          </a:p>
        </p:txBody>
      </p:sp>
    </p:spTree>
    <p:extLst>
      <p:ext uri="{BB962C8B-B14F-4D97-AF65-F5344CB8AC3E}">
        <p14:creationId xmlns:p14="http://schemas.microsoft.com/office/powerpoint/2010/main" val="355728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5291" y="1651378"/>
            <a:ext cx="8727187" cy="3920522"/>
          </a:xfrm>
        </p:spPr>
        <p:txBody>
          <a:bodyPr/>
          <a:lstStyle/>
          <a:p>
            <a:pPr marL="182880">
              <a:spcBef>
                <a:spcPts val="1200"/>
              </a:spcBef>
            </a:pPr>
            <a:r>
              <a:rPr lang="en-US" sz="2000" dirty="0" smtClean="0"/>
              <a:t>FHA will support HHS on HCCIC</a:t>
            </a:r>
          </a:p>
          <a:p>
            <a:pPr marL="5257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Health Cybersecurity and Communications Integration Center (</a:t>
            </a:r>
            <a:r>
              <a:rPr lang="en-US" sz="1800" dirty="0" smtClean="0"/>
              <a:t>HCCIC): a centralized </a:t>
            </a:r>
            <a:r>
              <a:rPr lang="en-US" sz="1800" dirty="0"/>
              <a:t>hub for monitoring </a:t>
            </a:r>
            <a:r>
              <a:rPr lang="en-US" sz="1800" dirty="0" err="1"/>
              <a:t>cyberthreats</a:t>
            </a:r>
            <a:r>
              <a:rPr lang="en-US" sz="1800" dirty="0"/>
              <a:t> to the healthcare sector and to share information with the private </a:t>
            </a:r>
            <a:r>
              <a:rPr lang="en-US" sz="1800" dirty="0" smtClean="0"/>
              <a:t>sector</a:t>
            </a:r>
          </a:p>
          <a:p>
            <a:pPr marL="52578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Healthcare-focused cousin to the DHS’ National Cybersecurity and Communications Integration Center (NCCIC)</a:t>
            </a:r>
          </a:p>
          <a:p>
            <a:pPr marL="182880">
              <a:spcBef>
                <a:spcPts val="1200"/>
              </a:spcBef>
            </a:pPr>
            <a:r>
              <a:rPr lang="en-US" sz="2000" dirty="0" smtClean="0"/>
              <a:t>To get the work done most efficiently, whom within your agency should we work with?</a:t>
            </a:r>
          </a:p>
          <a:p>
            <a:pPr marL="182880">
              <a:spcBef>
                <a:spcPts val="1200"/>
              </a:spcBef>
            </a:pPr>
            <a:r>
              <a:rPr lang="en-US" sz="2000" dirty="0"/>
              <a:t>What health related security architecture is your agency working on</a:t>
            </a:r>
            <a:r>
              <a:rPr lang="en-US" sz="2000" dirty="0" smtClean="0"/>
              <a:t>?</a:t>
            </a:r>
            <a:endParaRPr lang="en-US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833F-4A84-E342-A425-ACDB98154BBD}" type="datetime4">
              <a:rPr lang="en-US" smtClean="0"/>
              <a:t>August 8, 2017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dirty="0"/>
              <a:t>Security 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8837" y="7962"/>
            <a:ext cx="360267" cy="37584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8059506-D6B1-B842-AAB5-13291BE98BD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5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59506-D6B1-B842-AAB5-13291BE98BD7}" type="slidenum">
              <a:rPr lang="en-US" smtClean="0"/>
              <a:t>26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See you in September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</a:t>
            </a:r>
            <a:br>
              <a:rPr lang="en-US" dirty="0"/>
            </a:br>
            <a:r>
              <a:rPr lang="en-US" dirty="0"/>
              <a:t>COMING</a:t>
            </a:r>
          </a:p>
        </p:txBody>
      </p:sp>
    </p:spTree>
    <p:extLst>
      <p:ext uri="{BB962C8B-B14F-4D97-AF65-F5344CB8AC3E}">
        <p14:creationId xmlns:p14="http://schemas.microsoft.com/office/powerpoint/2010/main" val="10313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Backup Slides for the August 2017 Managing Board Meeting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August 03, 2017</a:t>
            </a:r>
          </a:p>
        </p:txBody>
      </p:sp>
    </p:spTree>
    <p:extLst>
      <p:ext uri="{BB962C8B-B14F-4D97-AF65-F5344CB8AC3E}">
        <p14:creationId xmlns:p14="http://schemas.microsoft.com/office/powerpoint/2010/main" val="120022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HA2016_PPTtheme_4.3-BLUEwoONC">
  <a:themeElements>
    <a:clrScheme name="FHA Blue">
      <a:dk1>
        <a:srgbClr val="1D427C"/>
      </a:dk1>
      <a:lt1>
        <a:sysClr val="window" lastClr="FFFFFF"/>
      </a:lt1>
      <a:dk2>
        <a:srgbClr val="B8B6B8"/>
      </a:dk2>
      <a:lt2>
        <a:srgbClr val="EEECE1"/>
      </a:lt2>
      <a:accent1>
        <a:srgbClr val="1D427C"/>
      </a:accent1>
      <a:accent2>
        <a:srgbClr val="D21242"/>
      </a:accent2>
      <a:accent3>
        <a:srgbClr val="D2E4F0"/>
      </a:accent3>
      <a:accent4>
        <a:srgbClr val="FFDE17"/>
      </a:accent4>
      <a:accent5>
        <a:srgbClr val="00A14B"/>
      </a:accent5>
      <a:accent6>
        <a:srgbClr val="FF8000"/>
      </a:accent6>
      <a:hlink>
        <a:srgbClr val="D21242"/>
      </a:hlink>
      <a:folHlink>
        <a:srgbClr val="A70000"/>
      </a:folHlink>
    </a:clrScheme>
    <a:fontScheme name="FHA">
      <a:majorFont>
        <a:latin typeface="Times New Roman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90967</TotalTime>
  <Words>1981</Words>
  <Application>Microsoft Office PowerPoint</Application>
  <PresentationFormat>On-screen Show (4:3)</PresentationFormat>
  <Paragraphs>277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MS PGothic</vt:lpstr>
      <vt:lpstr>Arial</vt:lpstr>
      <vt:lpstr>Calibri</vt:lpstr>
      <vt:lpstr>Georgia</vt:lpstr>
      <vt:lpstr>Times New Roman</vt:lpstr>
      <vt:lpstr>FHA2016_PPTtheme_4.3-BLUEwoONC</vt:lpstr>
      <vt:lpstr>1_Default Design</vt:lpstr>
      <vt:lpstr>FHA August Architecture Council</vt:lpstr>
      <vt:lpstr>Agenda-at-a-Glance</vt:lpstr>
      <vt:lpstr>Introductions</vt:lpstr>
      <vt:lpstr>INFORMATIONAL: Harmonizing NIEM to clinical healthcare standards</vt:lpstr>
      <vt:lpstr>FHA’s Role in NIEM</vt:lpstr>
      <vt:lpstr>NIEM: Why it matters</vt:lpstr>
      <vt:lpstr>Through the Years: Partner’s Using NIEM</vt:lpstr>
      <vt:lpstr>Model Overview </vt:lpstr>
      <vt:lpstr>NIEM Harmonization To Health Standards Overview</vt:lpstr>
      <vt:lpstr>A Practical Solution</vt:lpstr>
      <vt:lpstr>Update: CONNECT -  PDMP</vt:lpstr>
      <vt:lpstr>Prescription Drug Pilot</vt:lpstr>
      <vt:lpstr>UPDATE: FHIM Current Status and Transition Planning</vt:lpstr>
      <vt:lpstr>Bottom Line Up Front</vt:lpstr>
      <vt:lpstr>FHIM/CIMI Harmonization</vt:lpstr>
      <vt:lpstr>FHIM/CIMI Harmonization</vt:lpstr>
      <vt:lpstr>FHIM/CIMI Harmonization</vt:lpstr>
      <vt:lpstr>FHIM/SOLOR Harmonization</vt:lpstr>
      <vt:lpstr>FHIM/SOLOR Harmonization</vt:lpstr>
      <vt:lpstr>FHIM Support for FHIR Activities</vt:lpstr>
      <vt:lpstr>FHIM Tooling Support for FHIR Activities</vt:lpstr>
      <vt:lpstr>FHIM Transition Planning</vt:lpstr>
      <vt:lpstr>Management of Gender Data and Security Architecture</vt:lpstr>
      <vt:lpstr>Management of Gender Data</vt:lpstr>
      <vt:lpstr>Security Architecture</vt:lpstr>
      <vt:lpstr>THANKS FOR COMING</vt:lpstr>
      <vt:lpstr>Backup Slides</vt:lpstr>
    </vt:vector>
  </TitlesOfParts>
  <Company>Royal Leo Studio, LLC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Slides for Your Use in Everything</dc:title>
  <dc:creator>Christina</dc:creator>
  <cp:lastModifiedBy>Galen Mulrooney</cp:lastModifiedBy>
  <cp:revision>851</cp:revision>
  <cp:lastPrinted>2017-08-02T12:13:13Z</cp:lastPrinted>
  <dcterms:created xsi:type="dcterms:W3CDTF">2016-02-03T19:18:36Z</dcterms:created>
  <dcterms:modified xsi:type="dcterms:W3CDTF">2017-08-08T23:25:29Z</dcterms:modified>
</cp:coreProperties>
</file>